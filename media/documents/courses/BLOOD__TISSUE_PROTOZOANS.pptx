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256" r:id="rId2"/>
    <p:sldId id="258" r:id="rId3"/>
    <p:sldId id="259" r:id="rId4"/>
    <p:sldId id="260" r:id="rId5"/>
    <p:sldId id="274" r:id="rId6"/>
    <p:sldId id="275" r:id="rId7"/>
    <p:sldId id="276" r:id="rId8"/>
    <p:sldId id="277" r:id="rId9"/>
    <p:sldId id="278" r:id="rId10"/>
    <p:sldId id="261" r:id="rId11"/>
    <p:sldId id="262" r:id="rId12"/>
    <p:sldId id="263" r:id="rId13"/>
    <p:sldId id="264" r:id="rId14"/>
    <p:sldId id="265" r:id="rId15"/>
    <p:sldId id="29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333" r:id="rId34"/>
    <p:sldId id="291" r:id="rId35"/>
    <p:sldId id="292" r:id="rId36"/>
    <p:sldId id="293" r:id="rId37"/>
    <p:sldId id="294" r:id="rId38"/>
    <p:sldId id="295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34" r:id="rId47"/>
    <p:sldId id="305" r:id="rId48"/>
    <p:sldId id="306" r:id="rId49"/>
    <p:sldId id="335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36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charset="0"/>
      <a:buNone/>
      <a:defRPr sz="1800" b="0" i="0" u="none" kern="1200" baseline="0">
        <a:solidFill>
          <a:schemeClr val="tx1"/>
        </a:solidFill>
        <a:latin typeface="Arial" charset="0"/>
        <a:ea typeface="宋体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49" d="100"/>
          <a:sy n="49" d="100"/>
        </p:scale>
        <p:origin x="1313" y="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5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5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5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6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6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6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6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6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6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6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6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6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6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7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7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7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7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7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8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8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8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8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8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8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8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8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8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8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9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9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9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9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9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9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9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09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09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9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0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0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0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0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0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0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0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0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1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1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1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1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1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1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1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1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1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1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2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2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2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2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2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2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2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2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2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2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3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3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3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3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3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3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3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3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3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3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4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4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4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4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4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4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4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4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4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4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5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5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5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5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5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5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5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5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5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5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6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6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6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6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6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6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6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6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6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6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7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7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7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7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7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7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7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7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7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7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8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8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8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8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8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8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8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8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8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8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9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9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9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9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19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19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19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19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9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19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0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0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0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0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0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0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0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0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0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0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1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1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1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1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1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1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1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1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1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1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2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2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2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2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2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2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2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2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2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3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3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3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3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3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3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3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3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3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3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4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4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4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4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4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4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4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4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4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4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5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5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5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5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5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5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5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5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6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6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6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6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6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6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6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6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6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6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7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7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7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7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7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7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7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7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7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7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8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8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8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8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8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8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8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8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8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8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9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9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9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9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9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29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29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29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29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9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0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0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0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0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0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0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0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0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0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0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1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11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1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1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1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1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1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1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1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1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2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2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2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2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2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2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26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27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2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29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30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31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  <p:sp>
        <p:nvSpPr>
          <p:cNvPr id="233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33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33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3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3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en-US" altLang="x-none" sz="1200" dirty="0"/>
          </a:p>
        </p:txBody>
      </p:sp>
      <p:sp>
        <p:nvSpPr>
          <p:cNvPr id="233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charset="0"/>
        <a:ea typeface="Arial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标题，两项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/>
              <a:t>2026/1/6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宋体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2026/1/6</a:t>
            </a:fld>
            <a:endParaRPr lang="zh-CN" alt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宋体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宋体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1_01_100_110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AU" altLang="en-US"/>
          </a:p>
        </p:txBody>
      </p:sp>
      <p:sp>
        <p:nvSpPr>
          <p:cNvPr id="3075" name="Title 3074" descr="#wm#_1_01_100_1100_a_1_28#clear#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anchor="ctr"/>
          <a:lstStyle/>
          <a:p>
            <a:pPr defTabSz="914400">
              <a:buNone/>
            </a:pPr>
            <a:r>
              <a:rPr lang="en-AU" sz="4400" kern="1200" baseline="0">
                <a:latin typeface="Arial" charset="0"/>
                <a:ea typeface="Arial" charset="0"/>
              </a:rPr>
              <a:t>PLASMODIUM &amp; TRYPANOSOMA</a:t>
            </a:r>
          </a:p>
        </p:txBody>
      </p:sp>
      <p:sp>
        <p:nvSpPr>
          <p:cNvPr id="3076" name="Subtitle 3075" descr="#wm#_1_01_100_1100_b_1_51#clear#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/>
          <a:lstStyle/>
          <a:p>
            <a:pPr defTabSz="914400">
              <a:buNone/>
            </a:pPr>
            <a:r>
              <a:rPr lang="en-AU" sz="3200" kern="1200" baseline="0">
                <a:latin typeface="Arial" charset="0"/>
                <a:ea typeface="Arial" charset="0"/>
              </a:rPr>
              <a:t>BLOOD PROTOZOANS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 dirty="0"/>
              <a:t>Introduction to </a:t>
            </a:r>
            <a:r>
              <a:rPr lang="en-GB" dirty="0"/>
              <a:t>Plasmodium</a:t>
            </a:r>
            <a:endParaRPr lang="en-AU" dirty="0"/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r>
              <a:rPr dirty="0"/>
              <a:t>Plasmodium is a parasitic protozoan</a:t>
            </a:r>
          </a:p>
          <a:p>
            <a:pPr lvl="0" eaLnBrk="1" hangingPunct="1"/>
            <a:r>
              <a:rPr dirty="0"/>
              <a:t>It infects human red blood cells</a:t>
            </a:r>
          </a:p>
          <a:p>
            <a:pPr lvl="0" eaLnBrk="1" hangingPunct="1"/>
            <a:r>
              <a:rPr dirty="0"/>
              <a:t>Causes malaria</a:t>
            </a:r>
          </a:p>
          <a:p>
            <a:pPr lvl="0" eaLnBrk="1" hangingPunct="1"/>
            <a:r>
              <a:rPr dirty="0"/>
              <a:t>Transmitted by the female Anopheles mosquito</a:t>
            </a:r>
          </a:p>
          <a:p>
            <a:pPr lvl="0" eaLnBrk="1" hangingPunct="1"/>
            <a:r>
              <a:rPr dirty="0"/>
              <a:t>Malaria is a major public health problem in tropical region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Classification of Plasmodium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/>
            <a:r>
              <a:rPr dirty="0"/>
              <a:t>Kingdom: Protista</a:t>
            </a:r>
          </a:p>
          <a:p>
            <a:pPr lvl="0" eaLnBrk="1" hangingPunct="1"/>
            <a:r>
              <a:rPr dirty="0"/>
              <a:t>Phylum: Apicomplexa</a:t>
            </a:r>
          </a:p>
          <a:p>
            <a:pPr lvl="0" eaLnBrk="1" hangingPunct="1"/>
            <a:r>
              <a:rPr dirty="0"/>
              <a:t>Class: </a:t>
            </a:r>
            <a:r>
              <a:rPr dirty="0" err="1"/>
              <a:t>Aconoidasida</a:t>
            </a:r>
            <a:endParaRPr dirty="0"/>
          </a:p>
          <a:p>
            <a:pPr lvl="0" eaLnBrk="1" hangingPunct="1"/>
            <a:r>
              <a:rPr dirty="0"/>
              <a:t>Order: </a:t>
            </a:r>
            <a:r>
              <a:rPr dirty="0" err="1"/>
              <a:t>Haemosporida</a:t>
            </a:r>
            <a:endParaRPr dirty="0"/>
          </a:p>
          <a:p>
            <a:pPr lvl="0" eaLnBrk="1" hangingPunct="1"/>
            <a:r>
              <a:rPr dirty="0"/>
              <a:t>Genus: Plasmodium</a:t>
            </a:r>
          </a:p>
          <a:p>
            <a:pPr marL="0" lvl="0" indent="0" eaLnBrk="1" hangingPunct="1">
              <a:buNone/>
            </a:pPr>
            <a:r>
              <a:rPr dirty="0"/>
              <a:t>Apicomplexa are parasites characterized by an apical complex used for cell invasion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 sz="3200" dirty="0">
                <a:sym typeface="+mn-ea"/>
              </a:rPr>
              <a:t>Species of Plasmodium Infecting Humans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/>
            <a:r>
              <a:rPr sz="2400" dirty="0"/>
              <a:t>Plasmodium falciparum</a:t>
            </a:r>
          </a:p>
          <a:p>
            <a:pPr lvl="1"/>
            <a:r>
              <a:rPr sz="2000" dirty="0"/>
              <a:t>Most severe and fatal</a:t>
            </a:r>
          </a:p>
          <a:p>
            <a:pPr lvl="0" eaLnBrk="1" hangingPunct="1"/>
            <a:r>
              <a:rPr sz="2400" dirty="0"/>
              <a:t>Plasmodium vivax</a:t>
            </a:r>
          </a:p>
          <a:p>
            <a:pPr lvl="1"/>
            <a:r>
              <a:rPr sz="2000" dirty="0"/>
              <a:t>Causes relapsing malaria</a:t>
            </a:r>
          </a:p>
          <a:p>
            <a:pPr lvl="0" eaLnBrk="1" hangingPunct="1"/>
            <a:r>
              <a:rPr sz="2400" dirty="0"/>
              <a:t>Plasmodium </a:t>
            </a:r>
            <a:r>
              <a:rPr sz="2400" dirty="0" err="1"/>
              <a:t>malariae</a:t>
            </a:r>
            <a:endParaRPr sz="2400" dirty="0"/>
          </a:p>
          <a:p>
            <a:pPr lvl="1"/>
            <a:r>
              <a:rPr sz="2000" dirty="0"/>
              <a:t>Causes chronic infection</a:t>
            </a:r>
          </a:p>
          <a:p>
            <a:pPr lvl="0" eaLnBrk="1" hangingPunct="1"/>
            <a:r>
              <a:rPr sz="2400" dirty="0"/>
              <a:t>Plasmodium </a:t>
            </a:r>
            <a:r>
              <a:rPr sz="2400" dirty="0" err="1"/>
              <a:t>ovale</a:t>
            </a:r>
            <a:endParaRPr sz="2400" dirty="0"/>
          </a:p>
          <a:p>
            <a:pPr lvl="1"/>
            <a:r>
              <a:rPr sz="2000" dirty="0"/>
              <a:t>Mild malaria with relapses</a:t>
            </a:r>
          </a:p>
          <a:p>
            <a:pPr lvl="0" eaLnBrk="1" hangingPunct="1"/>
            <a:r>
              <a:rPr sz="2400" dirty="0"/>
              <a:t>Plasmodium </a:t>
            </a:r>
            <a:r>
              <a:rPr sz="2400" dirty="0" err="1"/>
              <a:t>knowlesi</a:t>
            </a:r>
            <a:endParaRPr sz="2400" dirty="0"/>
          </a:p>
          <a:p>
            <a:pPr lvl="1"/>
            <a:r>
              <a:rPr sz="2000" dirty="0"/>
              <a:t>Zoonotic (from monkeys</a:t>
            </a:r>
            <a:r>
              <a:rPr lang="en-GB" sz="2000" dirty="0"/>
              <a:t>)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CF9C-44F8-4A37-B145-36F0E64D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Ring Stage (Early Trophozoite – in RBC)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93AD4F5-F647-467E-8742-80698D268C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2082971"/>
              </p:ext>
            </p:extLst>
          </p:nvPr>
        </p:nvGraphicFramePr>
        <p:xfrm>
          <a:off x="457200" y="1600200"/>
          <a:ext cx="4032250" cy="466139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923260473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593075351"/>
                    </a:ext>
                  </a:extLst>
                </a:gridCol>
              </a:tblGrid>
              <a:tr h="430114">
                <a:tc>
                  <a:txBody>
                    <a:bodyPr/>
                    <a:lstStyle/>
                    <a:p>
                      <a:r>
                        <a:rPr lang="en-GB" sz="1600" b="1" dirty="0"/>
                        <a:t>Species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Distinctive Features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653319817"/>
                  </a:ext>
                </a:extLst>
              </a:tr>
              <a:tr h="1078540">
                <a:tc>
                  <a:txBody>
                    <a:bodyPr/>
                    <a:lstStyle/>
                    <a:p>
                      <a:r>
                        <a:rPr lang="en-GB" sz="1400"/>
                        <a:t>P. falciparum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Very delicate, thin rings; often multiple rings in one RBC; appliqué (accolé) forms seen at RBC margin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656387751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GB" sz="1400"/>
                        <a:t>P. vivax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Thick, large ring; single ring per RBC; RBC enlarged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465127150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GB" sz="1400" dirty="0"/>
                        <a:t>P. malariae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Compact, thick ring; usually single; RBC normal size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3537186845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GB" sz="1400"/>
                        <a:t>P. ovale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Compact ring; RBC slightly enlarged and oval-shaped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880323017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GB" sz="1400"/>
                        <a:t>P. knowlesi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Similar to P. falciparum early rings but usually single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314779485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B8BB07-C18C-4838-AA17-0FAFE72E0F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1652685"/>
            <a:ext cx="4032250" cy="4420992"/>
          </a:xfrm>
        </p:spPr>
      </p:pic>
    </p:spTree>
    <p:extLst>
      <p:ext uri="{BB962C8B-B14F-4D97-AF65-F5344CB8AC3E}">
        <p14:creationId xmlns:p14="http://schemas.microsoft.com/office/powerpoint/2010/main" val="417550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03B2-4943-40E6-B1A9-639ADA83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Trophozoite Stage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F6A2B5-3FB1-4E81-8FCB-A70ECE2FC3B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59823024"/>
              </p:ext>
            </p:extLst>
          </p:nvPr>
        </p:nvGraphicFramePr>
        <p:xfrm>
          <a:off x="457200" y="1600200"/>
          <a:ext cx="4032250" cy="45564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1297799757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3637024404"/>
                    </a:ext>
                  </a:extLst>
                </a:gridCol>
              </a:tblGrid>
              <a:tr h="502040">
                <a:tc>
                  <a:txBody>
                    <a:bodyPr/>
                    <a:lstStyle/>
                    <a:p>
                      <a:r>
                        <a:rPr lang="en-GB" sz="1600" b="1" dirty="0"/>
                        <a:t>Species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Distinctive Features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618724658"/>
                  </a:ext>
                </a:extLst>
              </a:tr>
              <a:tr h="880470">
                <a:tc>
                  <a:txBody>
                    <a:bodyPr/>
                    <a:lstStyle/>
                    <a:p>
                      <a:r>
                        <a:rPr lang="en-GB" sz="1400" b="1" dirty="0"/>
                        <a:t>P. falciparum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Mature trophozoites rarely seen in peripheral blood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203608785"/>
                  </a:ext>
                </a:extLst>
              </a:tr>
              <a:tr h="880470">
                <a:tc>
                  <a:txBody>
                    <a:bodyPr/>
                    <a:lstStyle/>
                    <a:p>
                      <a:r>
                        <a:rPr lang="en-GB" sz="1400" b="1" dirty="0"/>
                        <a:t>P. vivax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Amoeboid (irregular shape); Schüffner’s dots present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3126859402"/>
                  </a:ext>
                </a:extLst>
              </a:tr>
              <a:tr h="880470">
                <a:tc>
                  <a:txBody>
                    <a:bodyPr/>
                    <a:lstStyle/>
                    <a:p>
                      <a:r>
                        <a:rPr lang="en-GB" sz="1400" b="1" dirty="0"/>
                        <a:t>P. malariae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Characteristic band-shaped trophozoite across RBC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897479542"/>
                  </a:ext>
                </a:extLst>
              </a:tr>
              <a:tr h="880470">
                <a:tc>
                  <a:txBody>
                    <a:bodyPr/>
                    <a:lstStyle/>
                    <a:p>
                      <a:r>
                        <a:rPr lang="en-GB" sz="1400" b="1" dirty="0"/>
                        <a:t>P. </a:t>
                      </a:r>
                      <a:r>
                        <a:rPr lang="en-GB" sz="1400" b="1" dirty="0" err="1"/>
                        <a:t>ovale</a:t>
                      </a:r>
                      <a:endParaRPr lang="en-GB" sz="1400" b="1" dirty="0"/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Compact trophozoite; Schüffner’s dots present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742642286"/>
                  </a:ext>
                </a:extLst>
              </a:tr>
              <a:tr h="502040">
                <a:tc>
                  <a:txBody>
                    <a:bodyPr/>
                    <a:lstStyle/>
                    <a:p>
                      <a:r>
                        <a:rPr lang="en-GB" sz="1400" b="1" dirty="0"/>
                        <a:t>P. </a:t>
                      </a:r>
                      <a:r>
                        <a:rPr lang="en-GB" sz="1400" b="1" dirty="0" err="1"/>
                        <a:t>knowlesi</a:t>
                      </a:r>
                      <a:endParaRPr lang="en-GB" sz="1400" b="1" dirty="0"/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Band forms similar to P. malariae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717152775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A59E36-7655-423F-B9D8-17448DA1A7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1652685"/>
            <a:ext cx="4032250" cy="4420992"/>
          </a:xfrm>
        </p:spPr>
      </p:pic>
    </p:spTree>
    <p:extLst>
      <p:ext uri="{BB962C8B-B14F-4D97-AF65-F5344CB8AC3E}">
        <p14:creationId xmlns:p14="http://schemas.microsoft.com/office/powerpoint/2010/main" val="38245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52DF-0C6C-41CE-AEE8-5267F8B8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Schizont Stage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F76772-0F0D-4296-A8A5-A9C221E8E15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60844689"/>
              </p:ext>
            </p:extLst>
          </p:nvPr>
        </p:nvGraphicFramePr>
        <p:xfrm>
          <a:off x="457200" y="1600199"/>
          <a:ext cx="4032250" cy="45259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3371370373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102674773"/>
                    </a:ext>
                  </a:extLst>
                </a:gridCol>
              </a:tblGrid>
              <a:tr h="502040">
                <a:tc>
                  <a:txBody>
                    <a:bodyPr/>
                    <a:lstStyle/>
                    <a:p>
                      <a:r>
                        <a:rPr lang="en-GB" sz="1600" dirty="0"/>
                        <a:t>Species</a:t>
                      </a:r>
                      <a:endParaRPr lang="en-GB" sz="1600" b="1" dirty="0"/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Distinctive Features</a:t>
                      </a:r>
                      <a:endParaRPr lang="en-GB" sz="1600" b="1" dirty="0"/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060103419"/>
                  </a:ext>
                </a:extLst>
              </a:tr>
              <a:tr h="880471">
                <a:tc>
                  <a:txBody>
                    <a:bodyPr/>
                    <a:lstStyle/>
                    <a:p>
                      <a:r>
                        <a:rPr lang="en-GB" sz="1400"/>
                        <a:t>P. falciparum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Schizonts rarely seen; many merozoites (up to 24)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757179344"/>
                  </a:ext>
                </a:extLst>
              </a:tr>
              <a:tr h="880471">
                <a:tc>
                  <a:txBody>
                    <a:bodyPr/>
                    <a:lstStyle/>
                    <a:p>
                      <a:r>
                        <a:rPr lang="en-GB" sz="1400"/>
                        <a:t>P. vivax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Large schizont; 12–24 merozoites; RBC enlarged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049198648"/>
                  </a:ext>
                </a:extLst>
              </a:tr>
              <a:tr h="880471">
                <a:tc>
                  <a:txBody>
                    <a:bodyPr/>
                    <a:lstStyle/>
                    <a:p>
                      <a:r>
                        <a:rPr lang="en-GB" sz="1400"/>
                        <a:t>P. malariae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Rosette or daisy pattern; 6–12 merozoites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718117581"/>
                  </a:ext>
                </a:extLst>
              </a:tr>
              <a:tr h="880471">
                <a:tc>
                  <a:txBody>
                    <a:bodyPr/>
                    <a:lstStyle/>
                    <a:p>
                      <a:r>
                        <a:rPr lang="en-GB" sz="1400"/>
                        <a:t>P. ovale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8–12 merozoites; RBC oval and enlarged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736758287"/>
                  </a:ext>
                </a:extLst>
              </a:tr>
              <a:tr h="502040">
                <a:tc>
                  <a:txBody>
                    <a:bodyPr/>
                    <a:lstStyle/>
                    <a:p>
                      <a:r>
                        <a:rPr lang="en-GB" sz="1400"/>
                        <a:t>P. knowlesi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8–10 merozoites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3844031417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DFA207-DC6A-4ACA-ADD3-19FF38B63E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1652685"/>
            <a:ext cx="4032250" cy="4420992"/>
          </a:xfrm>
        </p:spPr>
      </p:pic>
    </p:spTree>
    <p:extLst>
      <p:ext uri="{BB962C8B-B14F-4D97-AF65-F5344CB8AC3E}">
        <p14:creationId xmlns:p14="http://schemas.microsoft.com/office/powerpoint/2010/main" val="139662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737B-6254-408A-B921-4602A0C8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Gametocyte Stage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86030C-22E1-4CF8-8209-5068E83A404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50987933"/>
              </p:ext>
            </p:extLst>
          </p:nvPr>
        </p:nvGraphicFramePr>
        <p:xfrm>
          <a:off x="457200" y="1600200"/>
          <a:ext cx="4032250" cy="45259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4010545436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3554137040"/>
                    </a:ext>
                  </a:extLst>
                </a:gridCol>
              </a:tblGrid>
              <a:tr h="547848">
                <a:tc>
                  <a:txBody>
                    <a:bodyPr/>
                    <a:lstStyle/>
                    <a:p>
                      <a:r>
                        <a:rPr lang="en-GB" sz="1600" dirty="0"/>
                        <a:t>Species</a:t>
                      </a:r>
                      <a:endParaRPr lang="en-GB" sz="1600" b="1" dirty="0"/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Distinctive Features</a:t>
                      </a:r>
                      <a:endParaRPr lang="en-GB" sz="1600" b="1" dirty="0"/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816226017"/>
                  </a:ext>
                </a:extLst>
              </a:tr>
              <a:tr h="960806">
                <a:tc>
                  <a:txBody>
                    <a:bodyPr/>
                    <a:lstStyle/>
                    <a:p>
                      <a:r>
                        <a:rPr lang="en-GB" sz="1400"/>
                        <a:t>P. falciparum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Crescent or banana-shaped (diagnostic feature)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069267932"/>
                  </a:ext>
                </a:extLst>
              </a:tr>
              <a:tr h="960806">
                <a:tc>
                  <a:txBody>
                    <a:bodyPr/>
                    <a:lstStyle/>
                    <a:p>
                      <a:r>
                        <a:rPr lang="en-GB" sz="1400" dirty="0"/>
                        <a:t>P. vivax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Large, round or oval; fills enlarged RBC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881159204"/>
                  </a:ext>
                </a:extLst>
              </a:tr>
              <a:tr h="547848">
                <a:tc>
                  <a:txBody>
                    <a:bodyPr/>
                    <a:lstStyle/>
                    <a:p>
                      <a:r>
                        <a:rPr lang="en-GB" sz="1400"/>
                        <a:t>P. malariae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Round, compact; RBC normal size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1100933517"/>
                  </a:ext>
                </a:extLst>
              </a:tr>
              <a:tr h="960806">
                <a:tc>
                  <a:txBody>
                    <a:bodyPr/>
                    <a:lstStyle/>
                    <a:p>
                      <a:r>
                        <a:rPr lang="en-GB" sz="1400"/>
                        <a:t>P. ovale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Round/oval; RBC oval with fringed edges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2212845290"/>
                  </a:ext>
                </a:extLst>
              </a:tr>
              <a:tr h="547848">
                <a:tc>
                  <a:txBody>
                    <a:bodyPr/>
                    <a:lstStyle/>
                    <a:p>
                      <a:r>
                        <a:rPr lang="en-GB" sz="1400"/>
                        <a:t>P. knowlesi</a:t>
                      </a:r>
                    </a:p>
                  </a:txBody>
                  <a:tcPr marL="44803" marR="44803" marT="22401" marB="22401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Round; resembles P. malariae</a:t>
                      </a:r>
                    </a:p>
                  </a:txBody>
                  <a:tcPr marL="44803" marR="44803" marT="22401" marB="22401" anchor="ctr"/>
                </a:tc>
                <a:extLst>
                  <a:ext uri="{0D108BD9-81ED-4DB2-BD59-A6C34878D82A}">
                    <a16:rowId xmlns:a16="http://schemas.microsoft.com/office/drawing/2014/main" val="3398669285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CDC9E7-EC62-45DD-9D18-366701E1C0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1652685"/>
            <a:ext cx="4032250" cy="4420992"/>
          </a:xfrm>
        </p:spPr>
      </p:pic>
    </p:spTree>
    <p:extLst>
      <p:ext uri="{BB962C8B-B14F-4D97-AF65-F5344CB8AC3E}">
        <p14:creationId xmlns:p14="http://schemas.microsoft.com/office/powerpoint/2010/main" val="207728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1EB1E-443C-4584-908A-82E9CF1B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 Blood Cell (RBC) Changes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CDC81C-D8F4-43B8-88A8-5B8606E9FE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204991"/>
              </p:ext>
            </p:extLst>
          </p:nvPr>
        </p:nvGraphicFramePr>
        <p:xfrm>
          <a:off x="457200" y="1616927"/>
          <a:ext cx="8229600" cy="44270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8860513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604016173"/>
                    </a:ext>
                  </a:extLst>
                </a:gridCol>
              </a:tblGrid>
              <a:tr h="655857">
                <a:tc>
                  <a:txBody>
                    <a:bodyPr/>
                    <a:lstStyle/>
                    <a:p>
                      <a:r>
                        <a:rPr lang="en-GB" b="1" dirty="0"/>
                        <a:t>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RBC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051496"/>
                  </a:ext>
                </a:extLst>
              </a:tr>
              <a:tr h="1147750">
                <a:tc>
                  <a:txBody>
                    <a:bodyPr/>
                    <a:lstStyle/>
                    <a:p>
                      <a:r>
                        <a:rPr lang="en-GB"/>
                        <a:t>P. falciparum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RBC size normal; multiple infections common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570168"/>
                  </a:ext>
                </a:extLst>
              </a:tr>
              <a:tr h="655857">
                <a:tc>
                  <a:txBody>
                    <a:bodyPr/>
                    <a:lstStyle/>
                    <a:p>
                      <a:r>
                        <a:rPr lang="en-GB" dirty="0"/>
                        <a:t>P. vivax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RBC enlarged; Schüffner’s dots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376019"/>
                  </a:ext>
                </a:extLst>
              </a:tr>
              <a:tr h="655857">
                <a:tc>
                  <a:txBody>
                    <a:bodyPr/>
                    <a:lstStyle/>
                    <a:p>
                      <a:r>
                        <a:rPr lang="en-GB"/>
                        <a:t>P. malariae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RBC normal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781824"/>
                  </a:ext>
                </a:extLst>
              </a:tr>
              <a:tr h="655857">
                <a:tc>
                  <a:txBody>
                    <a:bodyPr/>
                    <a:lstStyle/>
                    <a:p>
                      <a:r>
                        <a:rPr lang="en-GB"/>
                        <a:t>P. ovale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RBC enlarged, oval, fringed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867200"/>
                  </a:ext>
                </a:extLst>
              </a:tr>
              <a:tr h="655857">
                <a:tc>
                  <a:txBody>
                    <a:bodyPr/>
                    <a:lstStyle/>
                    <a:p>
                      <a:r>
                        <a:rPr lang="en-GB"/>
                        <a:t>P. knowlesi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RBC normal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65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74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Geographical Distribution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>
              <a:lnSpc>
                <a:spcPct val="150000"/>
              </a:lnSpc>
            </a:pPr>
            <a:r>
              <a:rPr sz="2800" dirty="0"/>
              <a:t>Common in: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Sub-Saharan Africa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South and Southeast Asia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Central and South America</a:t>
            </a: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sz="2800" i="1" dirty="0">
                <a:solidFill>
                  <a:srgbClr val="FF0000"/>
                </a:solidFill>
              </a:rPr>
              <a:t>P. falciparum </a:t>
            </a:r>
            <a:r>
              <a:rPr sz="2800" dirty="0"/>
              <a:t>is dominant in Africa</a:t>
            </a: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sz="2800" i="1" dirty="0">
                <a:solidFill>
                  <a:srgbClr val="FF0000"/>
                </a:solidFill>
              </a:rPr>
              <a:t>P. vivax</a:t>
            </a:r>
            <a:r>
              <a:rPr sz="2800" dirty="0"/>
              <a:t> common outside </a:t>
            </a:r>
            <a:r>
              <a:rPr sz="2800" dirty="0" err="1"/>
              <a:t>Afric</a:t>
            </a:r>
            <a:r>
              <a:rPr lang="en-GB" sz="2800" dirty="0"/>
              <a:t>a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Host and Vector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>
              <a:lnSpc>
                <a:spcPct val="150000"/>
              </a:lnSpc>
            </a:pPr>
            <a:r>
              <a:rPr dirty="0"/>
              <a:t>Definitive host: Female Anopheles mosquito</a:t>
            </a: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GB" dirty="0"/>
              <a:t>	</a:t>
            </a:r>
            <a:r>
              <a:rPr dirty="0"/>
              <a:t>(sexual reproduction occurs here)</a:t>
            </a:r>
          </a:p>
          <a:p>
            <a:pPr lvl="0" eaLnBrk="1" hangingPunct="1">
              <a:lnSpc>
                <a:spcPct val="150000"/>
              </a:lnSpc>
            </a:pPr>
            <a:r>
              <a:rPr dirty="0"/>
              <a:t>Intermediate host: Human</a:t>
            </a:r>
          </a:p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GB" dirty="0"/>
              <a:t>	</a:t>
            </a:r>
            <a:r>
              <a:rPr dirty="0"/>
              <a:t>(asexual reproduction occurs here</a:t>
            </a:r>
            <a:r>
              <a:rPr lang="en-AU"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Morphology of Plasmodium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/>
            <a:r>
              <a:rPr sz="2800" dirty="0"/>
              <a:t>Exists in different developmental stages</a:t>
            </a:r>
          </a:p>
          <a:p>
            <a:pPr lvl="0" eaLnBrk="1" hangingPunct="1"/>
            <a:r>
              <a:rPr sz="2800" dirty="0"/>
              <a:t>No fixed shape</a:t>
            </a:r>
          </a:p>
          <a:p>
            <a:pPr lvl="0" eaLnBrk="1" hangingPunct="1"/>
            <a:r>
              <a:rPr sz="2800" dirty="0"/>
              <a:t>Found inside:</a:t>
            </a:r>
          </a:p>
          <a:p>
            <a:pPr lvl="1"/>
            <a:r>
              <a:rPr sz="2400" dirty="0"/>
              <a:t>Liver cells</a:t>
            </a:r>
          </a:p>
          <a:p>
            <a:pPr lvl="1"/>
            <a:r>
              <a:rPr sz="2400" dirty="0"/>
              <a:t>Red blood cells</a:t>
            </a:r>
          </a:p>
          <a:p>
            <a:pPr lvl="0" eaLnBrk="1" hangingPunct="1"/>
            <a:r>
              <a:rPr sz="2800" dirty="0"/>
              <a:t>Contains:</a:t>
            </a:r>
          </a:p>
          <a:p>
            <a:pPr lvl="1"/>
            <a:r>
              <a:rPr sz="2400" dirty="0"/>
              <a:t>Nucleus</a:t>
            </a:r>
          </a:p>
          <a:p>
            <a:pPr lvl="1"/>
            <a:r>
              <a:rPr sz="2400" dirty="0"/>
              <a:t>Cytoplasm</a:t>
            </a:r>
          </a:p>
          <a:p>
            <a:pPr marL="0" lvl="0" indent="0" eaLnBrk="1" hangingPunct="1">
              <a:buNone/>
            </a:pPr>
            <a:r>
              <a:rPr sz="2800" dirty="0"/>
              <a:t>Apical complex for host cell </a:t>
            </a:r>
            <a:r>
              <a:rPr sz="2800" dirty="0" err="1"/>
              <a:t>invasio</a:t>
            </a:r>
            <a:r>
              <a:rPr lang="en-GB" sz="2800" dirty="0"/>
              <a:t>n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Life Cycle of Plasmodium</a:t>
            </a:r>
            <a:endParaRPr lang="en-AU">
              <a:sym typeface="+mn-ea"/>
            </a:endParaRP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>
              <a:lnSpc>
                <a:spcPct val="200000"/>
              </a:lnSpc>
            </a:pPr>
            <a:r>
              <a:rPr lang="en-AU" dirty="0"/>
              <a:t>L</a:t>
            </a:r>
            <a:r>
              <a:rPr lang="en-GB" dirty="0"/>
              <a:t>ife</a:t>
            </a:r>
            <a:r>
              <a:rPr dirty="0"/>
              <a:t> cycle involves two hosts</a:t>
            </a:r>
          </a:p>
          <a:p>
            <a:pPr lvl="0" eaLnBrk="1" hangingPunct="1">
              <a:lnSpc>
                <a:spcPct val="200000"/>
              </a:lnSpc>
            </a:pPr>
            <a:r>
              <a:rPr dirty="0"/>
              <a:t>Two main phases:</a:t>
            </a:r>
          </a:p>
          <a:p>
            <a:pPr lvl="0" eaLnBrk="1" hangingPunct="1">
              <a:lnSpc>
                <a:spcPct val="200000"/>
              </a:lnSpc>
            </a:pPr>
            <a:r>
              <a:rPr dirty="0"/>
              <a:t>Asexual phase in humans</a:t>
            </a:r>
          </a:p>
          <a:p>
            <a:pPr lvl="0" eaLnBrk="1" hangingPunct="1">
              <a:lnSpc>
                <a:spcPct val="200000"/>
              </a:lnSpc>
            </a:pPr>
            <a:r>
              <a:rPr dirty="0"/>
              <a:t>Sexual phase in mosquito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>
                <a:sym typeface="+mn-ea"/>
              </a:rPr>
              <a:t>Life Cycle – Human Liver Stage</a:t>
            </a: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marL="0" lvl="0" indent="0" eaLnBrk="1" hangingPunct="1">
              <a:lnSpc>
                <a:spcPct val="150000"/>
              </a:lnSpc>
              <a:buNone/>
            </a:pPr>
            <a:r>
              <a:rPr sz="2800" dirty="0"/>
              <a:t>•</a:t>
            </a:r>
            <a:r>
              <a:rPr lang="en-GB" sz="2800" dirty="0"/>
              <a:t> </a:t>
            </a:r>
            <a:r>
              <a:rPr sz="2800" dirty="0"/>
              <a:t>Mosquito injects sporozoites during a bite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Sporozoites enter bloodstream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Travel to the liver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Invade hepatocytes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Multiply by schizogony</a:t>
            </a:r>
          </a:p>
          <a:p>
            <a:pPr lvl="0" eaLnBrk="1" hangingPunct="1">
              <a:lnSpc>
                <a:spcPct val="150000"/>
              </a:lnSpc>
            </a:pPr>
            <a:r>
              <a:rPr sz="2800" dirty="0"/>
              <a:t>Form merozoite</a:t>
            </a:r>
            <a:r>
              <a:rPr lang="en-AU" sz="2800" dirty="0"/>
              <a:t>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4EF7-257C-49FA-8248-79D8EE79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+mn-ea"/>
              </a:rPr>
              <a:t>Red Blood Cell Stage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BB8C2-822A-47DA-B054-8B261C5D1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GB" sz="2000" dirty="0"/>
              <a:t>Merozoites enter red blood cells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Develop through stages: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Ring stage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Trophozoite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Schizont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RBC ruptures releasing merozoites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Causes fever and chills</a:t>
            </a:r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CBEBD1-0059-42EA-99C5-A70E40A07A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2247910"/>
            <a:ext cx="4032250" cy="3230543"/>
          </a:xfrm>
        </p:spPr>
      </p:pic>
    </p:spTree>
    <p:extLst>
      <p:ext uri="{BB962C8B-B14F-4D97-AF65-F5344CB8AC3E}">
        <p14:creationId xmlns:p14="http://schemas.microsoft.com/office/powerpoint/2010/main" val="332340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4_210_110" hidden="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ctr"/>
          <a:lstStyle/>
          <a:p>
            <a:pPr lvl="0" eaLnBrk="1" hangingPunct="1"/>
            <a:r>
              <a:rPr sz="3600">
                <a:sym typeface="+mn-ea"/>
              </a:rPr>
              <a:t>Life Cycle – Sexual Stage in Humans</a:t>
            </a:r>
          </a:p>
          <a:p>
            <a:pPr lvl="0" eaLnBrk="1" hangingPunct="1"/>
            <a:endParaRPr sz="3600">
              <a:sym typeface="+mn-ea"/>
            </a:endParaRPr>
          </a:p>
        </p:txBody>
      </p:sp>
      <p:sp>
        <p:nvSpPr>
          <p:cNvPr id="3076" name="Rectangle 3" descr="#wm#_a_04_210_110_b_1_1#clear#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/>
          <a:lstStyle/>
          <a:p>
            <a:pPr lvl="0" eaLnBrk="1" hangingPunct="1">
              <a:lnSpc>
                <a:spcPct val="150000"/>
              </a:lnSpc>
            </a:pPr>
            <a:r>
              <a:rPr dirty="0"/>
              <a:t>Some merozoites develop into:</a:t>
            </a:r>
          </a:p>
          <a:p>
            <a:pPr lvl="0" eaLnBrk="1" hangingPunct="1">
              <a:lnSpc>
                <a:spcPct val="150000"/>
              </a:lnSpc>
            </a:pPr>
            <a:r>
              <a:rPr dirty="0"/>
              <a:t>Male gametocytes</a:t>
            </a:r>
          </a:p>
          <a:p>
            <a:pPr lvl="0" eaLnBrk="1" hangingPunct="1">
              <a:lnSpc>
                <a:spcPct val="150000"/>
              </a:lnSpc>
            </a:pPr>
            <a:r>
              <a:rPr dirty="0"/>
              <a:t>Female gametocytes</a:t>
            </a:r>
          </a:p>
          <a:p>
            <a:pPr lvl="0" eaLnBrk="1" hangingPunct="1">
              <a:lnSpc>
                <a:spcPct val="150000"/>
              </a:lnSpc>
            </a:pPr>
            <a:r>
              <a:rPr dirty="0"/>
              <a:t>These circulate in the blood</a:t>
            </a:r>
          </a:p>
          <a:p>
            <a:pPr lvl="0" eaLnBrk="1" hangingPunct="1">
              <a:lnSpc>
                <a:spcPct val="150000"/>
              </a:lnSpc>
            </a:pPr>
            <a:r>
              <a:rPr dirty="0"/>
              <a:t>Picked up by mosquito during blood </a:t>
            </a:r>
            <a:r>
              <a:rPr lang="en-GB" dirty="0"/>
              <a:t>meal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5E2F-F922-4E94-9566-D5EFCADF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/>
              <a:t>Life Cycle – Mosquito Stage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E438-97BF-42A7-9274-8564DE08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800" dirty="0"/>
              <a:t>Gametocytes mature in mosquito gut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Fertilization occurs → zygote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Develops into </a:t>
            </a:r>
            <a:r>
              <a:rPr lang="en-GB" sz="2800" b="1" dirty="0"/>
              <a:t>ookinete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GB" sz="2800" dirty="0"/>
              <a:t>Forms </a:t>
            </a:r>
            <a:r>
              <a:rPr lang="en-GB" sz="2800" b="1" dirty="0"/>
              <a:t>oocyst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GB" sz="2800" dirty="0"/>
              <a:t>Produces sporozoites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Sporozoites migrate to salivary glands</a:t>
            </a:r>
          </a:p>
          <a:p>
            <a:pPr>
              <a:lnSpc>
                <a:spcPct val="150000"/>
              </a:lnSpc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5788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BBF9-D837-4F90-BBEF-F20BBCBA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2335"/>
            <a:ext cx="8229600" cy="1143000"/>
          </a:xfrm>
        </p:spPr>
        <p:txBody>
          <a:bodyPr/>
          <a:lstStyle/>
          <a:p>
            <a:r>
              <a:rPr lang="en-GB" b="1" dirty="0"/>
              <a:t>Pathogenesis of Malaria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A961-6B31-4EE6-B6BE-431916DDD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Destruction of red blood cells</a:t>
            </a:r>
          </a:p>
          <a:p>
            <a:r>
              <a:rPr lang="en-GB" sz="2400" dirty="0"/>
              <a:t>Release of toxic substances (</a:t>
            </a:r>
            <a:r>
              <a:rPr lang="en-GB" sz="2400" dirty="0" err="1"/>
              <a:t>haemozoine</a:t>
            </a:r>
            <a:r>
              <a:rPr lang="en-GB" sz="2400" dirty="0"/>
              <a:t>)</a:t>
            </a:r>
          </a:p>
          <a:p>
            <a:r>
              <a:rPr lang="en-GB" sz="2400" dirty="0"/>
              <a:t>Causes:</a:t>
            </a:r>
          </a:p>
          <a:p>
            <a:pPr lvl="1"/>
            <a:r>
              <a:rPr lang="en-GB" sz="2400" dirty="0"/>
              <a:t>Fever</a:t>
            </a:r>
          </a:p>
          <a:p>
            <a:pPr lvl="1"/>
            <a:r>
              <a:rPr lang="en-GB" sz="2400" dirty="0" err="1"/>
              <a:t>Anemia</a:t>
            </a:r>
            <a:endParaRPr lang="en-GB" sz="2400" dirty="0"/>
          </a:p>
          <a:p>
            <a:pPr lvl="1"/>
            <a:r>
              <a:rPr lang="en-GB" sz="2400" dirty="0"/>
              <a:t>Splenomegaly</a:t>
            </a:r>
          </a:p>
          <a:p>
            <a:r>
              <a:rPr lang="en-GB" sz="2400" i="1" dirty="0"/>
              <a:t>P. falciparum</a:t>
            </a:r>
            <a:r>
              <a:rPr lang="en-GB" sz="2400" dirty="0"/>
              <a:t> causes:</a:t>
            </a:r>
          </a:p>
          <a:p>
            <a:pPr lvl="1"/>
            <a:r>
              <a:rPr lang="en-GB" sz="2400" dirty="0"/>
              <a:t>Cerebral malaria</a:t>
            </a:r>
          </a:p>
          <a:p>
            <a:pPr lvl="1"/>
            <a:r>
              <a:rPr lang="en-GB" sz="2400" dirty="0"/>
              <a:t>Organ failure</a:t>
            </a:r>
          </a:p>
          <a:p>
            <a:pPr lvl="1"/>
            <a:r>
              <a:rPr lang="en-GB" sz="2400" dirty="0"/>
              <a:t>Death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3370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4AC1-A2DF-47A3-BAA7-8AB778B7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/>
              <a:t>Clinical Signs and Symptoms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5490-328C-46ED-A71A-F1D99240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Fever Chills and sweating</a:t>
            </a:r>
          </a:p>
          <a:p>
            <a:r>
              <a:rPr lang="en-GB" sz="2400" dirty="0"/>
              <a:t>Headache</a:t>
            </a:r>
          </a:p>
          <a:p>
            <a:r>
              <a:rPr lang="en-GB" sz="2400" dirty="0"/>
              <a:t>Muscle and joint pain</a:t>
            </a:r>
          </a:p>
          <a:p>
            <a:r>
              <a:rPr lang="en-GB" sz="2400" dirty="0"/>
              <a:t>Nausea and vomiting</a:t>
            </a:r>
          </a:p>
          <a:p>
            <a:endParaRPr lang="en-GB" sz="2400" dirty="0"/>
          </a:p>
          <a:p>
            <a:r>
              <a:rPr lang="en-GB" sz="2400" dirty="0"/>
              <a:t>Severe cases:</a:t>
            </a:r>
          </a:p>
          <a:p>
            <a:pPr lvl="1"/>
            <a:r>
              <a:rPr lang="en-GB" sz="2400" dirty="0"/>
              <a:t>Coma</a:t>
            </a:r>
          </a:p>
          <a:p>
            <a:pPr lvl="1"/>
            <a:r>
              <a:rPr lang="en-GB" sz="2400" dirty="0"/>
              <a:t>Severe </a:t>
            </a:r>
            <a:r>
              <a:rPr lang="en-GB" sz="2400" dirty="0" err="1"/>
              <a:t>anemia</a:t>
            </a:r>
            <a:endParaRPr lang="en-GB" sz="2400" dirty="0"/>
          </a:p>
          <a:p>
            <a:pPr lvl="1"/>
            <a:r>
              <a:rPr lang="en-GB" sz="2400" dirty="0"/>
              <a:t>Death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2554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2F51-A6CE-4B2E-A190-012F1C69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Diagnosis of Malaria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5144-C5B7-4F3A-899A-738597923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Microscopy (Gold standard):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/>
              <a:t>Thick blood smear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Thin blood smear</a:t>
            </a:r>
          </a:p>
          <a:p>
            <a:pPr>
              <a:lnSpc>
                <a:spcPct val="150000"/>
              </a:lnSpc>
            </a:pPr>
            <a:r>
              <a:rPr lang="en-GB" b="1" dirty="0"/>
              <a:t>Rapid Diagnostic Tests (RDTs)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PCR</a:t>
            </a:r>
            <a:r>
              <a:rPr lang="en-GB" dirty="0"/>
              <a:t> (research and confirmation)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347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5F74-C771-4FD5-97B1-CD280FD9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Treatment of Malaria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195BA-BEBA-4BCB-93E7-21A0E05DE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Depends on species and severity</a:t>
            </a:r>
          </a:p>
          <a:p>
            <a:r>
              <a:rPr lang="en-GB" dirty="0"/>
              <a:t>Common drugs:</a:t>
            </a:r>
          </a:p>
          <a:p>
            <a:pPr lvl="1"/>
            <a:r>
              <a:rPr lang="en-GB" dirty="0"/>
              <a:t>Artemisinin-based Combination Therapy (ACT)</a:t>
            </a:r>
          </a:p>
          <a:p>
            <a:pPr lvl="1"/>
            <a:r>
              <a:rPr lang="en-GB" dirty="0"/>
              <a:t>Chloroquine (limited use)</a:t>
            </a:r>
          </a:p>
          <a:p>
            <a:pPr lvl="1"/>
            <a:r>
              <a:rPr lang="en-GB" dirty="0"/>
              <a:t>Quinine</a:t>
            </a:r>
          </a:p>
          <a:p>
            <a:r>
              <a:rPr lang="en-GB" dirty="0"/>
              <a:t>Early treatment prevents complications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16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7AB7-0403-4FBF-8580-F35D38C9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Prevention and Control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74F51-CEE2-4494-9B9A-19D56030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Insecticide-treated mosquito nets</a:t>
            </a:r>
          </a:p>
          <a:p>
            <a:pPr>
              <a:lnSpc>
                <a:spcPct val="150000"/>
              </a:lnSpc>
            </a:pPr>
            <a:r>
              <a:rPr lang="en-GB" dirty="0"/>
              <a:t>Indoor residual spraying</a:t>
            </a:r>
          </a:p>
          <a:p>
            <a:pPr>
              <a:lnSpc>
                <a:spcPct val="150000"/>
              </a:lnSpc>
            </a:pPr>
            <a:r>
              <a:rPr lang="en-GB" dirty="0"/>
              <a:t>Elimination of breeding sites</a:t>
            </a:r>
          </a:p>
          <a:p>
            <a:pPr>
              <a:lnSpc>
                <a:spcPct val="150000"/>
              </a:lnSpc>
            </a:pPr>
            <a:r>
              <a:rPr lang="en-GB" dirty="0"/>
              <a:t>Chemoprophylaxis</a:t>
            </a:r>
          </a:p>
          <a:p>
            <a:pPr>
              <a:lnSpc>
                <a:spcPct val="150000"/>
              </a:lnSpc>
            </a:pPr>
            <a:r>
              <a:rPr lang="en-GB" dirty="0"/>
              <a:t>Health education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611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0C93-12CA-4C23-B629-2514537F7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TRYPANOSOMA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D423C-A48B-4E32-B79D-29F7A9FDE7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TISSUE AND BLOOD PROTOZOANS</a:t>
            </a:r>
          </a:p>
        </p:txBody>
      </p:sp>
    </p:spTree>
    <p:extLst>
      <p:ext uri="{BB962C8B-B14F-4D97-AF65-F5344CB8AC3E}">
        <p14:creationId xmlns:p14="http://schemas.microsoft.com/office/powerpoint/2010/main" val="2568946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5122-5A43-4AB7-B3B5-A28667E7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to Trypanosoma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3DEF-4E28-40D2-B80B-4BE75740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i="1" dirty="0"/>
              <a:t>Trypanosoma</a:t>
            </a:r>
            <a:r>
              <a:rPr lang="en-GB" sz="2800" dirty="0"/>
              <a:t> is a </a:t>
            </a:r>
            <a:r>
              <a:rPr lang="en-GB" sz="2800" b="1" dirty="0"/>
              <a:t>unicellular, flagellated protozoan parasite</a:t>
            </a:r>
            <a:endParaRPr lang="en-GB" sz="2800" dirty="0"/>
          </a:p>
          <a:p>
            <a:r>
              <a:rPr lang="en-GB" sz="2800" dirty="0"/>
              <a:t>Belongs to the </a:t>
            </a:r>
            <a:r>
              <a:rPr lang="en-GB" sz="2800" b="1" dirty="0"/>
              <a:t>Kinetoplastida</a:t>
            </a:r>
            <a:endParaRPr lang="en-GB" sz="2800" dirty="0"/>
          </a:p>
          <a:p>
            <a:r>
              <a:rPr lang="en-GB" sz="2800" dirty="0"/>
              <a:t>Parasite of </a:t>
            </a:r>
            <a:r>
              <a:rPr lang="en-GB" sz="2800" b="1" dirty="0"/>
              <a:t>blood and tissues</a:t>
            </a:r>
            <a:endParaRPr lang="en-GB" sz="2800" dirty="0"/>
          </a:p>
          <a:p>
            <a:r>
              <a:rPr lang="en-GB" sz="2800" dirty="0"/>
              <a:t>Transmitted by insect vectors</a:t>
            </a:r>
          </a:p>
          <a:p>
            <a:r>
              <a:rPr lang="en-GB" sz="2800" dirty="0"/>
              <a:t>Causes </a:t>
            </a:r>
            <a:r>
              <a:rPr lang="en-GB" sz="2800" b="1" dirty="0"/>
              <a:t>trypanosomiasis</a:t>
            </a:r>
            <a:r>
              <a:rPr lang="en-GB" sz="2800" dirty="0"/>
              <a:t>, a potentially fatal disease</a:t>
            </a:r>
          </a:p>
          <a:p>
            <a:r>
              <a:rPr lang="es-ES" sz="2800" b="1" dirty="0"/>
              <a:t>Diseases:</a:t>
            </a:r>
            <a:r>
              <a:rPr lang="es-ES" sz="2800" dirty="0"/>
              <a:t> African Tripanosomiasis &amp; American Tripanosomiasis</a:t>
            </a:r>
            <a:endParaRPr lang="en-GB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400680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BC68-46A7-4FC9-AE09-2B006F3A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/>
              <a:t>Classification of Trypanosoma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B511-FAB5-4930-ACC7-039A2302C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Kingdom:</a:t>
            </a:r>
            <a:r>
              <a:rPr lang="en-GB" dirty="0"/>
              <a:t> Protista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Phylum:</a:t>
            </a:r>
            <a:r>
              <a:rPr lang="en-GB" dirty="0"/>
              <a:t> </a:t>
            </a:r>
            <a:r>
              <a:rPr lang="en-GB" dirty="0" err="1"/>
              <a:t>Sarcomastigophora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Class:</a:t>
            </a:r>
            <a:r>
              <a:rPr lang="en-GB" dirty="0"/>
              <a:t> </a:t>
            </a:r>
            <a:r>
              <a:rPr lang="en-GB" dirty="0" err="1"/>
              <a:t>Zoomastigophorea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Order:</a:t>
            </a:r>
            <a:r>
              <a:rPr lang="en-GB" dirty="0"/>
              <a:t> Kinetoplastida</a:t>
            </a:r>
          </a:p>
          <a:p>
            <a:pPr>
              <a:lnSpc>
                <a:spcPct val="150000"/>
              </a:lnSpc>
            </a:pPr>
            <a:r>
              <a:rPr lang="en-GB" b="1" dirty="0"/>
              <a:t>Genus:</a:t>
            </a:r>
            <a:r>
              <a:rPr lang="en-GB" dirty="0"/>
              <a:t> </a:t>
            </a:r>
            <a:r>
              <a:rPr lang="en-GB" i="1" dirty="0"/>
              <a:t>Trypanosoma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961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AA0D-5477-4783-8EE4-7B959BC9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Medically Important Species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9D3C-621E-4FE4-8A48-725118D6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African Trypanosomes</a:t>
            </a:r>
          </a:p>
          <a:p>
            <a:r>
              <a:rPr lang="en-GB" i="1" dirty="0"/>
              <a:t>Trypanosoma brucei </a:t>
            </a:r>
            <a:r>
              <a:rPr lang="en-GB" i="1" dirty="0" err="1"/>
              <a:t>gambiense</a:t>
            </a:r>
            <a:br>
              <a:rPr lang="en-GB" dirty="0"/>
            </a:br>
            <a:r>
              <a:rPr lang="en-GB" dirty="0"/>
              <a:t>→ West &amp; Central Africa (chronic)</a:t>
            </a:r>
          </a:p>
          <a:p>
            <a:r>
              <a:rPr lang="en-GB" i="1" dirty="0"/>
              <a:t>Trypanosoma brucei rhodesiense</a:t>
            </a:r>
            <a:br>
              <a:rPr lang="en-GB" dirty="0"/>
            </a:br>
            <a:r>
              <a:rPr lang="en-GB" dirty="0"/>
              <a:t>→ East &amp; Southern Africa (acute)</a:t>
            </a:r>
          </a:p>
          <a:p>
            <a:pPr marL="0" indent="0">
              <a:buNone/>
            </a:pPr>
            <a:r>
              <a:rPr lang="en-GB" b="1" dirty="0"/>
              <a:t>American Trypanosome</a:t>
            </a:r>
          </a:p>
          <a:p>
            <a:r>
              <a:rPr lang="en-GB" i="1" dirty="0"/>
              <a:t>Trypanosoma </a:t>
            </a:r>
            <a:r>
              <a:rPr lang="en-GB" i="1" dirty="0" err="1"/>
              <a:t>cruzi</a:t>
            </a:r>
            <a:br>
              <a:rPr lang="en-GB" dirty="0"/>
            </a:br>
            <a:r>
              <a:rPr lang="en-GB" dirty="0"/>
              <a:t>→ Causes Chagas disease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7081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4E16-D2B4-42A3-A68C-C3B73BDC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Host and Vector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0E26EB-4BDC-430A-B504-2185C7BF1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598220"/>
              </p:ext>
            </p:extLst>
          </p:nvPr>
        </p:nvGraphicFramePr>
        <p:xfrm>
          <a:off x="457200" y="1573180"/>
          <a:ext cx="8229600" cy="4448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2079046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3040688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1458907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18148066"/>
                    </a:ext>
                  </a:extLst>
                </a:gridCol>
              </a:tblGrid>
              <a:tr h="999197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71719"/>
                  </a:ext>
                </a:extLst>
              </a:tr>
              <a:tr h="1724641">
                <a:tc>
                  <a:txBody>
                    <a:bodyPr/>
                    <a:lstStyle/>
                    <a:p>
                      <a:r>
                        <a:rPr lang="en-GB" dirty="0"/>
                        <a:t>T. brucei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Tsetse fly (</a:t>
                      </a:r>
                      <a:r>
                        <a:rPr lang="en-GB" i="1" dirty="0" err="1"/>
                        <a:t>Glossina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African sleeping sickness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088064"/>
                  </a:ext>
                </a:extLst>
              </a:tr>
              <a:tr h="1724641">
                <a:tc>
                  <a:txBody>
                    <a:bodyPr/>
                    <a:lstStyle/>
                    <a:p>
                      <a:r>
                        <a:rPr lang="en-GB" dirty="0"/>
                        <a:t>T. </a:t>
                      </a:r>
                      <a:r>
                        <a:rPr lang="en-GB" dirty="0" err="1"/>
                        <a:t>cruzi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Reduviid bug (kissing bug)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Chagas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74141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CA7400B-2523-425D-A205-1B3153A9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552" y="2553629"/>
            <a:ext cx="2046248" cy="1750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6F9507-7597-4996-BDAB-CE1F89BEF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52" y="4304371"/>
            <a:ext cx="2046248" cy="171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53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963F-6A70-4BF4-B0E2-2F27A500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Morphology of Trypanosoma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6F93-3BB7-4AE9-898D-DFC24029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Elongated, spindle-shaped organism</a:t>
            </a:r>
          </a:p>
          <a:p>
            <a:r>
              <a:rPr lang="en-GB" dirty="0"/>
              <a:t>Has:</a:t>
            </a:r>
          </a:p>
          <a:p>
            <a:pPr lvl="1"/>
            <a:r>
              <a:rPr lang="en-GB" dirty="0"/>
              <a:t>Single nucleus</a:t>
            </a:r>
          </a:p>
          <a:p>
            <a:pPr lvl="1"/>
            <a:r>
              <a:rPr lang="en-GB" dirty="0"/>
              <a:t>Flagellum</a:t>
            </a:r>
          </a:p>
          <a:p>
            <a:pPr lvl="1"/>
            <a:r>
              <a:rPr lang="en-GB" dirty="0"/>
              <a:t>Undulating membrane</a:t>
            </a:r>
          </a:p>
          <a:p>
            <a:pPr lvl="1"/>
            <a:r>
              <a:rPr lang="en-GB" dirty="0"/>
              <a:t>Kinetoplast (mitochondrial DNA)</a:t>
            </a:r>
          </a:p>
          <a:p>
            <a:r>
              <a:rPr lang="en-GB" dirty="0"/>
              <a:t>Moves with </a:t>
            </a:r>
            <a:r>
              <a:rPr lang="en-GB" b="1" dirty="0"/>
              <a:t>corkscrew motion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135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BEAF-710B-4175-AFA3-96DBE382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Developmental Forms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1065E1-1BFD-4ABC-92FA-33BCFFF91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417040"/>
              </p:ext>
            </p:extLst>
          </p:nvPr>
        </p:nvGraphicFramePr>
        <p:xfrm>
          <a:off x="457200" y="1806498"/>
          <a:ext cx="8229600" cy="440473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0107094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255311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35460431"/>
                    </a:ext>
                  </a:extLst>
                </a:gridCol>
              </a:tblGrid>
              <a:tr h="927312">
                <a:tc>
                  <a:txBody>
                    <a:bodyPr/>
                    <a:lstStyle/>
                    <a:p>
                      <a:r>
                        <a:rPr lang="en-GB" sz="2000" b="1" dirty="0"/>
                        <a:t>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Key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330402"/>
                  </a:ext>
                </a:extLst>
              </a:tr>
              <a:tr h="927312">
                <a:tc>
                  <a:txBody>
                    <a:bodyPr/>
                    <a:lstStyle/>
                    <a:p>
                      <a:r>
                        <a:rPr lang="en-GB" dirty="0"/>
                        <a:t>Trypomastigote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Long, flagellated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Blood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862053"/>
                  </a:ext>
                </a:extLst>
              </a:tr>
              <a:tr h="1622795">
                <a:tc>
                  <a:txBody>
                    <a:bodyPr/>
                    <a:lstStyle/>
                    <a:p>
                      <a:r>
                        <a:rPr lang="en-GB"/>
                        <a:t>Epimastigote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Short undulating membrane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 gut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267085"/>
                  </a:ext>
                </a:extLst>
              </a:tr>
              <a:tr h="927312">
                <a:tc>
                  <a:txBody>
                    <a:bodyPr/>
                    <a:lstStyle/>
                    <a:p>
                      <a:r>
                        <a:rPr lang="en-GB"/>
                        <a:t>Amastigote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Round, no flagellum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Tissues (T. </a:t>
                      </a:r>
                      <a:r>
                        <a:rPr lang="en-GB" dirty="0" err="1"/>
                        <a:t>cruzi</a:t>
                      </a:r>
                      <a:r>
                        <a:rPr lang="en-GB" dirty="0"/>
                        <a:t> 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492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915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B542-DA70-49C0-AF04-E8689F3D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FORMS OF TRYPANOSOMA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579345-35CF-43ED-9732-6DD14E80E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614201"/>
              </p:ext>
            </p:extLst>
          </p:nvPr>
        </p:nvGraphicFramePr>
        <p:xfrm>
          <a:off x="457200" y="1600200"/>
          <a:ext cx="8229600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2011216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056178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73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1" u="non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Trypomastigotes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607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i="1" dirty="0" err="1"/>
                        <a:t>Epimastigote</a:t>
                      </a:r>
                      <a:endParaRPr lang="en-GB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6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b="1" dirty="0"/>
                        <a:t>Amastigote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898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056E14-1F81-4025-B05E-B854AE85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038" y="2000250"/>
            <a:ext cx="2397513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DFD03B-5FD6-43CF-85D3-CBEFE3C4C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372" y="3571240"/>
            <a:ext cx="3095625" cy="147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010551-89ED-43CD-AA88-CF79B2FBD2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87" t="46894" r="70981" b="23914"/>
          <a:stretch/>
        </p:blipFill>
        <p:spPr>
          <a:xfrm>
            <a:off x="5921298" y="5189854"/>
            <a:ext cx="2230243" cy="139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8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A8C0-B54A-42F8-845B-C5D792F7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Life Cycle of Trypanosoma brucei 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ED7F1-9AA5-49C2-A1C3-537599C8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GB" dirty="0"/>
              <a:t>Requires </a:t>
            </a:r>
            <a:r>
              <a:rPr lang="en-GB" b="1" dirty="0"/>
              <a:t>two hosts</a:t>
            </a:r>
            <a:endParaRPr lang="en-GB" dirty="0"/>
          </a:p>
          <a:p>
            <a:pPr>
              <a:lnSpc>
                <a:spcPct val="250000"/>
              </a:lnSpc>
            </a:pPr>
            <a:r>
              <a:rPr lang="en-GB" b="1" dirty="0"/>
              <a:t>Human</a:t>
            </a:r>
            <a:r>
              <a:rPr lang="en-GB" dirty="0"/>
              <a:t> – asexual multiplication</a:t>
            </a:r>
          </a:p>
          <a:p>
            <a:pPr>
              <a:lnSpc>
                <a:spcPct val="250000"/>
              </a:lnSpc>
            </a:pPr>
            <a:r>
              <a:rPr lang="en-GB" b="1" dirty="0"/>
              <a:t>Tsetse fly</a:t>
            </a:r>
            <a:r>
              <a:rPr lang="en-GB" dirty="0"/>
              <a:t> – developmental stages</a:t>
            </a:r>
          </a:p>
          <a:p>
            <a:pPr>
              <a:lnSpc>
                <a:spcPct val="2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7946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9801-6DD1-4AD0-B75A-CC418E15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Life Cycle – Human Stage (</a:t>
            </a:r>
            <a:r>
              <a:rPr lang="en-GB" sz="3600" b="1" i="1" dirty="0"/>
              <a:t>T. brucei</a:t>
            </a:r>
            <a:r>
              <a:rPr lang="en-GB" sz="3600" b="1" dirty="0"/>
              <a:t>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825E9-06B2-4EA6-9B1B-E798807B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Tsetse fly injects </a:t>
            </a:r>
            <a:r>
              <a:rPr lang="en-GB" b="1" dirty="0"/>
              <a:t>trypomastigotes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Parasites multiply in: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Blood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Lymph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Cerebrospinal fluid</a:t>
            </a:r>
          </a:p>
          <a:p>
            <a:pPr>
              <a:lnSpc>
                <a:spcPct val="150000"/>
              </a:lnSpc>
            </a:pPr>
            <a:r>
              <a:rPr lang="en-GB" dirty="0"/>
              <a:t>No intracellular stage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9356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0211-8177-4D64-B109-B1FEAC3B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Life Cycle – Vector Stage (</a:t>
            </a:r>
            <a:r>
              <a:rPr lang="en-GB" sz="3600" b="1" i="1" dirty="0"/>
              <a:t>T. brucei</a:t>
            </a:r>
            <a:r>
              <a:rPr lang="en-GB" sz="3600" b="1" dirty="0"/>
              <a:t>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C80A-16B0-446D-A96B-4326F3557E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800" dirty="0"/>
              <a:t>Fly ingests trypomastigotes</a:t>
            </a:r>
          </a:p>
          <a:p>
            <a:r>
              <a:rPr lang="en-GB" sz="2800" dirty="0"/>
              <a:t>Convert to </a:t>
            </a:r>
            <a:r>
              <a:rPr lang="en-GB" sz="2800" b="1" dirty="0"/>
              <a:t>epimastigotes</a:t>
            </a:r>
            <a:r>
              <a:rPr lang="en-GB" sz="2800" dirty="0"/>
              <a:t> in midgut</a:t>
            </a:r>
          </a:p>
          <a:p>
            <a:r>
              <a:rPr lang="en-GB" sz="2800" dirty="0"/>
              <a:t>Multiply and migrate to salivary glands</a:t>
            </a:r>
          </a:p>
          <a:p>
            <a:r>
              <a:rPr lang="en-GB" sz="2800" dirty="0"/>
              <a:t>Develop into infective trypomastigotes</a:t>
            </a:r>
          </a:p>
          <a:p>
            <a:endParaRPr lang="en-GB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E9CB17-9863-414A-8A2C-1A225D78AD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704" y="1600200"/>
            <a:ext cx="4482791" cy="4332249"/>
          </a:xfrm>
        </p:spPr>
      </p:pic>
    </p:spTree>
    <p:extLst>
      <p:ext uri="{BB962C8B-B14F-4D97-AF65-F5344CB8AC3E}">
        <p14:creationId xmlns:p14="http://schemas.microsoft.com/office/powerpoint/2010/main" val="1530617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5850-080A-4B15-879E-1F0414FE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Life Cycle of Trypanosoma </a:t>
            </a:r>
            <a:r>
              <a:rPr lang="en-GB" sz="3600" b="1" dirty="0" err="1"/>
              <a:t>cruzi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E1BB-D260-4023-92AE-BCC49E73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Bug defecates during blood meal</a:t>
            </a:r>
          </a:p>
          <a:p>
            <a:pPr>
              <a:lnSpc>
                <a:spcPct val="150000"/>
              </a:lnSpc>
            </a:pPr>
            <a:r>
              <a:rPr lang="en-GB" dirty="0"/>
              <a:t>Parasites enter through bite wound</a:t>
            </a:r>
          </a:p>
          <a:p>
            <a:pPr>
              <a:lnSpc>
                <a:spcPct val="150000"/>
              </a:lnSpc>
            </a:pPr>
            <a:r>
              <a:rPr lang="en-GB" dirty="0"/>
              <a:t>Convert to </a:t>
            </a:r>
            <a:r>
              <a:rPr lang="en-GB" b="1" dirty="0"/>
              <a:t>amastigotes</a:t>
            </a:r>
            <a:r>
              <a:rPr lang="en-GB" dirty="0"/>
              <a:t> inside tissues</a:t>
            </a:r>
          </a:p>
          <a:p>
            <a:pPr>
              <a:lnSpc>
                <a:spcPct val="150000"/>
              </a:lnSpc>
            </a:pPr>
            <a:r>
              <a:rPr lang="en-GB" dirty="0"/>
              <a:t>Multiply and re-enter bloodstream as trypomastigotes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2166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D8B0-F1C2-4A1C-A419-5F8FB065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Pathogenesis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451B-FF0F-4138-93A4-5C30CBFDB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Parasite multiplies in blood</a:t>
            </a:r>
          </a:p>
          <a:p>
            <a:r>
              <a:rPr lang="en-GB" dirty="0"/>
              <a:t>Causes:</a:t>
            </a:r>
          </a:p>
          <a:p>
            <a:pPr lvl="1"/>
            <a:r>
              <a:rPr lang="en-GB" dirty="0" err="1"/>
              <a:t>Anemia</a:t>
            </a:r>
            <a:r>
              <a:rPr lang="en-GB" dirty="0"/>
              <a:t> (Immune-mediated </a:t>
            </a:r>
            <a:r>
              <a:rPr lang="en-GB" dirty="0" err="1"/>
              <a:t>hemolysis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Immunosuppression</a:t>
            </a:r>
          </a:p>
          <a:p>
            <a:r>
              <a:rPr lang="en-GB" dirty="0"/>
              <a:t>CNS invasion causes neurological symptoms</a:t>
            </a:r>
          </a:p>
          <a:p>
            <a:r>
              <a:rPr lang="en-GB" dirty="0"/>
              <a:t>Antigenic variation allows immune evasion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360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B42C-882E-4285-988E-75ABBD10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Clinical Features – African Trypanosomiasis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8F81-3550-4EDF-B215-738E45338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436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/>
              <a:t>Early Stage</a:t>
            </a:r>
          </a:p>
          <a:p>
            <a:r>
              <a:rPr lang="en-GB" sz="2400" dirty="0"/>
              <a:t>Fever</a:t>
            </a:r>
          </a:p>
          <a:p>
            <a:r>
              <a:rPr lang="en-GB" sz="2400" dirty="0"/>
              <a:t>Headache</a:t>
            </a:r>
          </a:p>
          <a:p>
            <a:r>
              <a:rPr lang="en-GB" sz="2400" dirty="0"/>
              <a:t>Joint pain</a:t>
            </a:r>
          </a:p>
          <a:p>
            <a:r>
              <a:rPr lang="en-GB" sz="2400" dirty="0"/>
              <a:t>Lymphadenopathy (Winterbottom’s sign)</a:t>
            </a:r>
          </a:p>
          <a:p>
            <a:pPr marL="0" indent="0">
              <a:buNone/>
            </a:pPr>
            <a:r>
              <a:rPr lang="en-GB" sz="2400" b="1" dirty="0"/>
              <a:t>Late Stage</a:t>
            </a:r>
          </a:p>
          <a:p>
            <a:r>
              <a:rPr lang="en-GB" sz="2400" dirty="0"/>
              <a:t>Sleep disturbances</a:t>
            </a:r>
          </a:p>
          <a:p>
            <a:r>
              <a:rPr lang="en-GB" sz="2400" dirty="0"/>
              <a:t>Confusion</a:t>
            </a:r>
          </a:p>
          <a:p>
            <a:r>
              <a:rPr lang="en-GB" sz="2400" dirty="0"/>
              <a:t>Coma</a:t>
            </a:r>
          </a:p>
          <a:p>
            <a:r>
              <a:rPr lang="en-GB" sz="2400" dirty="0"/>
              <a:t>Death if untreated</a:t>
            </a:r>
          </a:p>
          <a:p>
            <a:endParaRPr lang="en-GB" sz="2400" dirty="0"/>
          </a:p>
        </p:txBody>
      </p:sp>
      <p:pic>
        <p:nvPicPr>
          <p:cNvPr id="11" name="Picture 2" descr="Swollen lymph nodes in the posterior neck, a sign of African Trypanosomiasis (Winterbottom's sign).">
            <a:extLst>
              <a:ext uri="{FF2B5EF4-FFF2-40B4-BE49-F238E27FC236}">
                <a16:creationId xmlns:a16="http://schemas.microsoft.com/office/drawing/2014/main" id="{9C82FB00-BACC-4E5B-9CEA-976C52270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936" y="1785628"/>
            <a:ext cx="1897683" cy="110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7666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F1B0-B947-4DA7-BD5E-2C7AC55A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Clinical Features – Chagas Disease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00AA-CB52-4F24-B192-9D4BDB3B5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Acute Phase</a:t>
            </a:r>
          </a:p>
          <a:p>
            <a:r>
              <a:rPr lang="en-GB" dirty="0"/>
              <a:t>Fever</a:t>
            </a:r>
          </a:p>
          <a:p>
            <a:r>
              <a:rPr lang="en-GB" dirty="0" err="1"/>
              <a:t>Romaña’s</a:t>
            </a:r>
            <a:r>
              <a:rPr lang="en-GB" dirty="0"/>
              <a:t> sign (eye swelling)</a:t>
            </a:r>
          </a:p>
          <a:p>
            <a:r>
              <a:rPr lang="en-GB" b="1" dirty="0"/>
              <a:t>Chronic Phase</a:t>
            </a:r>
          </a:p>
          <a:p>
            <a:r>
              <a:rPr lang="en-GB" dirty="0"/>
              <a:t>Cardiomyopathy</a:t>
            </a:r>
          </a:p>
          <a:p>
            <a:r>
              <a:rPr lang="en-GB" dirty="0" err="1"/>
              <a:t>Megaesophagus</a:t>
            </a:r>
            <a:endParaRPr lang="en-GB" dirty="0"/>
          </a:p>
          <a:p>
            <a:r>
              <a:rPr lang="en-GB" dirty="0"/>
              <a:t>Megacolon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74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C0E6-96AF-471E-8C27-6DF816FC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Diagnosis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2278-E9E4-4398-9AFE-36F1564CF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Microscopy of blood smear</a:t>
            </a:r>
          </a:p>
          <a:p>
            <a:pPr>
              <a:lnSpc>
                <a:spcPct val="150000"/>
              </a:lnSpc>
            </a:pPr>
            <a:r>
              <a:rPr lang="en-GB" dirty="0"/>
              <a:t>Lymph node aspirate</a:t>
            </a:r>
          </a:p>
          <a:p>
            <a:pPr>
              <a:lnSpc>
                <a:spcPct val="150000"/>
              </a:lnSpc>
            </a:pPr>
            <a:r>
              <a:rPr lang="en-GB" dirty="0"/>
              <a:t>CSF examination (late stage)</a:t>
            </a:r>
          </a:p>
          <a:p>
            <a:pPr>
              <a:lnSpc>
                <a:spcPct val="150000"/>
              </a:lnSpc>
            </a:pPr>
            <a:r>
              <a:rPr lang="en-GB" dirty="0"/>
              <a:t>Serology (Chagas disease)</a:t>
            </a:r>
          </a:p>
          <a:p>
            <a:pPr>
              <a:lnSpc>
                <a:spcPct val="150000"/>
              </a:lnSpc>
            </a:pPr>
            <a:r>
              <a:rPr lang="en-GB" dirty="0"/>
              <a:t>PCR (advanced labs)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902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758C-BDE2-409A-B0B6-B7E5D54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TREATMENT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B614C7-F769-40A8-8513-D86155D07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739933"/>
              </p:ext>
            </p:extLst>
          </p:nvPr>
        </p:nvGraphicFramePr>
        <p:xfrm>
          <a:off x="457200" y="1527718"/>
          <a:ext cx="8229600" cy="45385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61479900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62658942"/>
                    </a:ext>
                  </a:extLst>
                </a:gridCol>
              </a:tblGrid>
              <a:tr h="1134637">
                <a:tc>
                  <a:txBody>
                    <a:bodyPr/>
                    <a:lstStyle/>
                    <a:p>
                      <a:r>
                        <a:rPr lang="en-GB" sz="2400" b="1" dirty="0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Drug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86632"/>
                  </a:ext>
                </a:extLst>
              </a:tr>
              <a:tr h="1134637">
                <a:tc>
                  <a:txBody>
                    <a:bodyPr/>
                    <a:lstStyle/>
                    <a:p>
                      <a:r>
                        <a:rPr lang="en-GB" b="1" dirty="0"/>
                        <a:t>African trypanosomiasis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Pentamidine, Suramin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037179"/>
                  </a:ext>
                </a:extLst>
              </a:tr>
              <a:tr h="1134637">
                <a:tc>
                  <a:txBody>
                    <a:bodyPr/>
                    <a:lstStyle/>
                    <a:p>
                      <a:r>
                        <a:rPr lang="en-GB" b="1" dirty="0"/>
                        <a:t>CNS involvement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Melarsoprol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90489"/>
                  </a:ext>
                </a:extLst>
              </a:tr>
              <a:tr h="1134637">
                <a:tc>
                  <a:txBody>
                    <a:bodyPr/>
                    <a:lstStyle/>
                    <a:p>
                      <a:r>
                        <a:rPr lang="en-GB" b="1" dirty="0"/>
                        <a:t>Chagas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Benznidazole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75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343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CCBD-0CC3-49D1-A672-D9A9DAA8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Prevention and Control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A4B98-4EE1-4353-9DA4-75B7229E6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Vector control</a:t>
            </a:r>
          </a:p>
          <a:p>
            <a:pPr>
              <a:lnSpc>
                <a:spcPct val="150000"/>
              </a:lnSpc>
            </a:pPr>
            <a:r>
              <a:rPr lang="en-GB" dirty="0"/>
              <a:t>Protective clothing</a:t>
            </a:r>
          </a:p>
          <a:p>
            <a:pPr>
              <a:lnSpc>
                <a:spcPct val="150000"/>
              </a:lnSpc>
            </a:pPr>
            <a:r>
              <a:rPr lang="en-GB" dirty="0"/>
              <a:t>Insecticides</a:t>
            </a:r>
          </a:p>
          <a:p>
            <a:pPr>
              <a:lnSpc>
                <a:spcPct val="150000"/>
              </a:lnSpc>
            </a:pPr>
            <a:r>
              <a:rPr lang="en-GB" dirty="0"/>
              <a:t>Screening blood donors</a:t>
            </a:r>
          </a:p>
          <a:p>
            <a:pPr>
              <a:lnSpc>
                <a:spcPct val="150000"/>
              </a:lnSpc>
            </a:pPr>
            <a:r>
              <a:rPr lang="en-GB" dirty="0"/>
              <a:t>Early diagnosis and treatment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89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7D99-EA60-45EF-AF94-2FF86742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Antigenic Variation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7FAAC-76EF-4C98-B5F6-A2FF53443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dirty="0"/>
              <a:t>Parasite changes surface glycoproteins</a:t>
            </a:r>
          </a:p>
          <a:p>
            <a:pPr>
              <a:lnSpc>
                <a:spcPct val="200000"/>
              </a:lnSpc>
            </a:pPr>
            <a:r>
              <a:rPr lang="en-GB" dirty="0"/>
              <a:t>Escapes immune system</a:t>
            </a:r>
          </a:p>
          <a:p>
            <a:pPr>
              <a:lnSpc>
                <a:spcPct val="200000"/>
              </a:lnSpc>
            </a:pPr>
            <a:r>
              <a:rPr lang="en-GB" dirty="0"/>
              <a:t>Causes relapsing fever</a:t>
            </a:r>
          </a:p>
          <a:p>
            <a:pPr>
              <a:lnSpc>
                <a:spcPct val="200000"/>
              </a:lnSpc>
            </a:pPr>
            <a:r>
              <a:rPr lang="en-GB" dirty="0"/>
              <a:t>Major challenge in vaccine development</a:t>
            </a:r>
          </a:p>
          <a:p>
            <a:pPr>
              <a:lnSpc>
                <a:spcPct val="2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9079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B449-AEA8-4549-B4D2-9D8DBA316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600" b="1" dirty="0"/>
              <a:t>TRICHOMONAS VAGINALIS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6E153-655B-4CA7-8B70-A51D880893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TISSUE PROTOZOA</a:t>
            </a:r>
          </a:p>
        </p:txBody>
      </p:sp>
    </p:spTree>
    <p:extLst>
      <p:ext uri="{BB962C8B-B14F-4D97-AF65-F5344CB8AC3E}">
        <p14:creationId xmlns:p14="http://schemas.microsoft.com/office/powerpoint/2010/main" val="1265222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65EF-434E-45C3-A5A4-86E39241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9A457-E9EF-41C4-9DD0-BD3BC519A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Trichomonas vaginalis</a:t>
            </a:r>
            <a:r>
              <a:rPr lang="en-GB" dirty="0"/>
              <a:t> is a </a:t>
            </a:r>
            <a:r>
              <a:rPr lang="en-GB" b="1" dirty="0"/>
              <a:t>flagellated protozoan parasite</a:t>
            </a:r>
            <a:endParaRPr lang="en-GB" dirty="0"/>
          </a:p>
          <a:p>
            <a:r>
              <a:rPr lang="en-GB" dirty="0"/>
              <a:t>Causes </a:t>
            </a:r>
            <a:r>
              <a:rPr lang="en-GB" b="1" dirty="0"/>
              <a:t>trichomoniasis</a:t>
            </a:r>
            <a:r>
              <a:rPr lang="en-GB" dirty="0"/>
              <a:t>, a common </a:t>
            </a:r>
            <a:r>
              <a:rPr lang="en-GB" b="1" dirty="0"/>
              <a:t>sexually transmitted infection (STI)</a:t>
            </a:r>
            <a:endParaRPr lang="en-GB" dirty="0"/>
          </a:p>
          <a:p>
            <a:r>
              <a:rPr lang="en-GB" dirty="0"/>
              <a:t>Infects the </a:t>
            </a:r>
            <a:r>
              <a:rPr lang="en-GB" b="1" dirty="0"/>
              <a:t>urogenital tract</a:t>
            </a:r>
            <a:endParaRPr lang="en-GB" dirty="0"/>
          </a:p>
          <a:p>
            <a:r>
              <a:rPr lang="en-GB" dirty="0"/>
              <a:t>Exists </a:t>
            </a:r>
            <a:r>
              <a:rPr lang="en-GB" b="1" dirty="0"/>
              <a:t>only as a trophozoite</a:t>
            </a:r>
            <a:r>
              <a:rPr lang="en-GB" dirty="0"/>
              <a:t> (no cyst stage)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267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93CF-C8FC-45C3-A1A2-C7DB394B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Classification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6612-DE64-48E3-9F51-0E5AA3C98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Kingdom:</a:t>
            </a:r>
            <a:r>
              <a:rPr lang="en-GB" dirty="0"/>
              <a:t> Protista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Phylum:</a:t>
            </a:r>
            <a:r>
              <a:rPr lang="en-GB" dirty="0"/>
              <a:t> </a:t>
            </a:r>
            <a:r>
              <a:rPr lang="en-GB" dirty="0" err="1"/>
              <a:t>Sarcomastigophora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Class:</a:t>
            </a:r>
            <a:r>
              <a:rPr lang="en-GB" dirty="0"/>
              <a:t> </a:t>
            </a:r>
            <a:r>
              <a:rPr lang="en-GB" dirty="0" err="1"/>
              <a:t>Zoomastigophorea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Order:</a:t>
            </a:r>
            <a:r>
              <a:rPr lang="en-GB" dirty="0"/>
              <a:t> </a:t>
            </a:r>
            <a:r>
              <a:rPr lang="en-GB" dirty="0" err="1"/>
              <a:t>Trichomonadida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Genus:</a:t>
            </a:r>
            <a:r>
              <a:rPr lang="en-GB" dirty="0"/>
              <a:t> </a:t>
            </a:r>
            <a:r>
              <a:rPr lang="en-GB" i="1" dirty="0"/>
              <a:t>Trichomonas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Species:</a:t>
            </a:r>
            <a:r>
              <a:rPr lang="en-GB" dirty="0"/>
              <a:t> </a:t>
            </a:r>
            <a:r>
              <a:rPr lang="en-GB" i="1" dirty="0"/>
              <a:t>T. vaginalis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4528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3EEF-7C97-4FF3-959A-C524E043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Habitat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C7643-34DE-4D67-9127-629C024FB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Females:</a:t>
            </a:r>
            <a:endParaRPr lang="en-GB" dirty="0"/>
          </a:p>
          <a:p>
            <a:pPr lvl="1"/>
            <a:r>
              <a:rPr lang="en-GB" dirty="0"/>
              <a:t>Vagina</a:t>
            </a:r>
          </a:p>
          <a:p>
            <a:pPr lvl="1"/>
            <a:r>
              <a:rPr lang="en-GB" dirty="0"/>
              <a:t>Cervix</a:t>
            </a:r>
          </a:p>
          <a:p>
            <a:r>
              <a:rPr lang="en-GB" b="1" dirty="0"/>
              <a:t>Males:</a:t>
            </a:r>
            <a:endParaRPr lang="en-GB" dirty="0"/>
          </a:p>
          <a:p>
            <a:pPr lvl="1"/>
            <a:r>
              <a:rPr lang="en-GB" dirty="0"/>
              <a:t>Urethra</a:t>
            </a:r>
          </a:p>
          <a:p>
            <a:pPr lvl="1"/>
            <a:r>
              <a:rPr lang="en-GB" dirty="0"/>
              <a:t>Prostate gland</a:t>
            </a:r>
          </a:p>
          <a:p>
            <a:pPr marL="0" indent="0">
              <a:buNone/>
            </a:pPr>
            <a:r>
              <a:rPr lang="en-GB" dirty="0"/>
              <a:t>Survives best in </a:t>
            </a:r>
            <a:r>
              <a:rPr lang="en-GB" b="1" dirty="0"/>
              <a:t>slightly acidic to neutral pH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575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4644-3A21-4B32-AF1D-8070FA15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Morphology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FD605-6DA3-4979-84F5-8ABF327F01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dirty="0"/>
              <a:t>Pear-shaped organism</a:t>
            </a:r>
          </a:p>
          <a:p>
            <a:r>
              <a:rPr lang="en-GB" sz="2400" dirty="0"/>
              <a:t>Size: 10–20 µm</a:t>
            </a:r>
          </a:p>
          <a:p>
            <a:r>
              <a:rPr lang="en-GB" sz="2400" dirty="0"/>
              <a:t>Features:</a:t>
            </a:r>
          </a:p>
          <a:p>
            <a:pPr lvl="1"/>
            <a:r>
              <a:rPr lang="en-GB" sz="2400" b="1" dirty="0"/>
              <a:t>4 anterior flagella</a:t>
            </a:r>
            <a:endParaRPr lang="en-GB" sz="2400" dirty="0"/>
          </a:p>
          <a:p>
            <a:pPr lvl="1"/>
            <a:r>
              <a:rPr lang="en-GB" sz="2400" b="1" dirty="0"/>
              <a:t>1 recurrent flagellum</a:t>
            </a:r>
            <a:endParaRPr lang="en-GB" sz="2400" dirty="0"/>
          </a:p>
          <a:p>
            <a:pPr lvl="1"/>
            <a:r>
              <a:rPr lang="en-GB" sz="2400" b="1" dirty="0"/>
              <a:t>Undulating membrane</a:t>
            </a:r>
            <a:r>
              <a:rPr lang="en-GB" sz="2400" dirty="0"/>
              <a:t> (short)</a:t>
            </a:r>
          </a:p>
          <a:p>
            <a:pPr lvl="1"/>
            <a:r>
              <a:rPr lang="en-GB" sz="2400" dirty="0" err="1"/>
              <a:t>Axostyle</a:t>
            </a:r>
            <a:r>
              <a:rPr lang="en-GB" sz="2400" dirty="0"/>
              <a:t> projecting posteriorly</a:t>
            </a:r>
          </a:p>
          <a:p>
            <a:r>
              <a:rPr lang="en-GB" sz="2400" dirty="0"/>
              <a:t>Rapid, jerky motility.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8F4A24-C6A0-4BE1-8446-86A8AF49BB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50" y="1815777"/>
            <a:ext cx="4032250" cy="4094809"/>
          </a:xfrm>
        </p:spPr>
      </p:pic>
    </p:spTree>
    <p:extLst>
      <p:ext uri="{BB962C8B-B14F-4D97-AF65-F5344CB8AC3E}">
        <p14:creationId xmlns:p14="http://schemas.microsoft.com/office/powerpoint/2010/main" val="472037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0114-D881-4BC6-8584-000D8BBF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Developmental Form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148E-C714-4766-B53A-3ECC9F55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dirty="0"/>
              <a:t>Only </a:t>
            </a:r>
            <a:r>
              <a:rPr lang="en-GB" b="1" dirty="0"/>
              <a:t>trophozoite stage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b="1" dirty="0"/>
              <a:t>No cyst stage</a:t>
            </a:r>
            <a:r>
              <a:rPr lang="en-GB" dirty="0"/>
              <a:t> → cannot survive long outside host</a:t>
            </a:r>
          </a:p>
          <a:p>
            <a:pPr>
              <a:lnSpc>
                <a:spcPct val="200000"/>
              </a:lnSpc>
            </a:pPr>
            <a:r>
              <a:rPr lang="en-GB" dirty="0"/>
              <a:t>Transmission requires </a:t>
            </a:r>
            <a:r>
              <a:rPr lang="en-GB" b="1" dirty="0"/>
              <a:t>direct contact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296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2E4A-E493-4667-ABEA-6DD51B8F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 of Transmission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5B04-100C-4839-BEC4-64BD6712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Sexual intercourse (most common)</a:t>
            </a:r>
          </a:p>
          <a:p>
            <a:r>
              <a:rPr lang="en-GB" dirty="0"/>
              <a:t>Rarely via:</a:t>
            </a:r>
          </a:p>
          <a:p>
            <a:pPr lvl="1"/>
            <a:r>
              <a:rPr lang="en-GB" dirty="0"/>
              <a:t>Contaminated towels</a:t>
            </a:r>
          </a:p>
          <a:p>
            <a:pPr lvl="1"/>
            <a:r>
              <a:rPr lang="en-GB" dirty="0"/>
              <a:t>Shared underwear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High risk with:</a:t>
            </a:r>
          </a:p>
          <a:p>
            <a:pPr lvl="1"/>
            <a:r>
              <a:rPr lang="en-GB" dirty="0"/>
              <a:t>Multiple sexual partners</a:t>
            </a:r>
          </a:p>
          <a:p>
            <a:pPr lvl="1"/>
            <a:r>
              <a:rPr lang="en-GB" dirty="0"/>
              <a:t>Poor genital hygiene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1784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FA9E-A8C7-4402-A685-E23F8132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Life Cycle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A4E4C-5C52-4D5B-9E95-1BE1314D23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000" dirty="0"/>
              <a:t>Simple and direct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Steps: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Trophozoites transmitted during intercourse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Attach to epithelial cells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Multiply by </a:t>
            </a:r>
            <a:r>
              <a:rPr lang="en-GB" sz="2000" b="1" dirty="0"/>
              <a:t>binary fission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Remain in urogenital tract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No intermediate host</a:t>
            </a:r>
          </a:p>
          <a:p>
            <a:pPr>
              <a:lnSpc>
                <a:spcPct val="150000"/>
              </a:lnSpc>
            </a:pPr>
            <a:endParaRPr lang="en-GB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990895-2662-4D15-B678-C5C69DD1ED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994" y="1600200"/>
            <a:ext cx="3977361" cy="4525963"/>
          </a:xfrm>
        </p:spPr>
      </p:pic>
    </p:spTree>
    <p:extLst>
      <p:ext uri="{BB962C8B-B14F-4D97-AF65-F5344CB8AC3E}">
        <p14:creationId xmlns:p14="http://schemas.microsoft.com/office/powerpoint/2010/main" val="1757954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2379-52FA-4B33-92E1-A7811676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2336"/>
            <a:ext cx="8229600" cy="1143000"/>
          </a:xfrm>
        </p:spPr>
        <p:txBody>
          <a:bodyPr/>
          <a:lstStyle/>
          <a:p>
            <a:r>
              <a:rPr lang="en-GB" b="1" dirty="0"/>
              <a:t>Pathogenesis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4373-62A9-466E-864E-A207F82E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400" dirty="0"/>
              <a:t>Parasite attaches to vaginal epithelium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Causes: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Cell damage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Inflammation</a:t>
            </a:r>
          </a:p>
          <a:p>
            <a:pPr lvl="1">
              <a:lnSpc>
                <a:spcPct val="150000"/>
              </a:lnSpc>
            </a:pPr>
            <a:r>
              <a:rPr lang="en-GB" sz="2400" dirty="0"/>
              <a:t>Increased vaginal pH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Produces enzymes that destroy epithelial cells</a:t>
            </a:r>
          </a:p>
          <a:p>
            <a:pPr>
              <a:lnSpc>
                <a:spcPct val="15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736928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0BE0-45F2-4FE1-8543-51B4835A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Clinical Features in Females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AFB1-E5C8-45DF-80B0-A4E89397B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Often symptomatic</a:t>
            </a:r>
          </a:p>
          <a:p>
            <a:r>
              <a:rPr lang="en-GB" dirty="0"/>
              <a:t>Common signs:</a:t>
            </a:r>
          </a:p>
          <a:p>
            <a:pPr lvl="1"/>
            <a:r>
              <a:rPr lang="en-GB" dirty="0"/>
              <a:t>Frothy, greenish-yellow vaginal discharge</a:t>
            </a:r>
          </a:p>
          <a:p>
            <a:pPr lvl="1"/>
            <a:r>
              <a:rPr lang="en-GB" dirty="0"/>
              <a:t>Offensive </a:t>
            </a:r>
            <a:r>
              <a:rPr lang="en-GB" dirty="0" err="1"/>
              <a:t>odor</a:t>
            </a:r>
            <a:endParaRPr lang="en-GB" dirty="0"/>
          </a:p>
          <a:p>
            <a:pPr lvl="1"/>
            <a:r>
              <a:rPr lang="en-GB" dirty="0"/>
              <a:t>Vaginal itching</a:t>
            </a:r>
          </a:p>
          <a:p>
            <a:pPr lvl="1"/>
            <a:r>
              <a:rPr lang="en-GB" dirty="0"/>
              <a:t>Dysuria</a:t>
            </a:r>
          </a:p>
          <a:p>
            <a:pPr lvl="1"/>
            <a:r>
              <a:rPr lang="en-GB" dirty="0"/>
              <a:t>Dyspareunia</a:t>
            </a:r>
          </a:p>
          <a:p>
            <a:r>
              <a:rPr lang="en-GB" b="1" dirty="0"/>
              <a:t>Strawberry cervix</a:t>
            </a:r>
            <a:r>
              <a:rPr lang="en-GB" dirty="0"/>
              <a:t> (punctate </a:t>
            </a:r>
            <a:r>
              <a:rPr lang="en-GB" dirty="0" err="1"/>
              <a:t>hemorrhages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1650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779C-0D87-4343-9186-BC8263E5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Clinical Features in Males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75FF-39A1-404E-819C-A53650EE3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Often asymptomatic</a:t>
            </a:r>
          </a:p>
          <a:p>
            <a:pPr>
              <a:lnSpc>
                <a:spcPct val="150000"/>
              </a:lnSpc>
            </a:pPr>
            <a:r>
              <a:rPr lang="en-GB" dirty="0"/>
              <a:t>May present with: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Urethral discharge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Burning sensation during urination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Prostatitis (rare)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766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E881A-6C43-412C-ABD5-F44718037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7ABD4-E6DE-46FF-923D-521147CFD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Increased risk of: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HIV transmission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Pelvic inflammatory disease</a:t>
            </a:r>
          </a:p>
          <a:p>
            <a:pPr>
              <a:lnSpc>
                <a:spcPct val="150000"/>
              </a:lnSpc>
            </a:pPr>
            <a:r>
              <a:rPr lang="en-GB" dirty="0"/>
              <a:t>Pregnancy complications: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Preterm birth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Low birth weight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012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CA63-EC26-4EE6-B636-C4A348359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Diagnosis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105A8-C670-4283-A90A-B86106AE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Wet mount microscopy</a:t>
            </a:r>
            <a:r>
              <a:rPr lang="en-GB" dirty="0"/>
              <a:t> (motile trophozoites)</a:t>
            </a:r>
          </a:p>
          <a:p>
            <a:pPr>
              <a:lnSpc>
                <a:spcPct val="150000"/>
              </a:lnSpc>
            </a:pPr>
            <a:r>
              <a:rPr lang="en-GB" dirty="0"/>
              <a:t>Vaginal swab examination</a:t>
            </a:r>
          </a:p>
          <a:p>
            <a:pPr>
              <a:lnSpc>
                <a:spcPct val="150000"/>
              </a:lnSpc>
            </a:pPr>
            <a:r>
              <a:rPr lang="en-GB" dirty="0"/>
              <a:t>Culture (more sensitive)</a:t>
            </a:r>
          </a:p>
          <a:p>
            <a:pPr>
              <a:lnSpc>
                <a:spcPct val="150000"/>
              </a:lnSpc>
            </a:pPr>
            <a:r>
              <a:rPr lang="en-GB" dirty="0"/>
              <a:t>Rapid antigen tests</a:t>
            </a:r>
          </a:p>
          <a:p>
            <a:pPr>
              <a:lnSpc>
                <a:spcPct val="150000"/>
              </a:lnSpc>
            </a:pPr>
            <a:r>
              <a:rPr lang="en-GB" dirty="0"/>
              <a:t>PCR (most sensitive)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464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5938-0B65-4730-9BCD-671E3C91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Treatment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DD4A-BBAB-490B-A662-C99BC833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/>
              <a:t>Metronidazole</a:t>
            </a:r>
            <a:r>
              <a:rPr lang="en-GB" dirty="0"/>
              <a:t> (drug of choice)</a:t>
            </a:r>
          </a:p>
          <a:p>
            <a:pPr>
              <a:lnSpc>
                <a:spcPct val="200000"/>
              </a:lnSpc>
            </a:pPr>
            <a:r>
              <a:rPr lang="en-GB" dirty="0"/>
              <a:t>Tinidazole (alternative)</a:t>
            </a:r>
          </a:p>
          <a:p>
            <a:pPr>
              <a:lnSpc>
                <a:spcPct val="200000"/>
              </a:lnSpc>
            </a:pPr>
            <a:r>
              <a:rPr lang="en-GB" dirty="0"/>
              <a:t>Treat </a:t>
            </a:r>
            <a:r>
              <a:rPr lang="en-GB" b="1" dirty="0"/>
              <a:t>both partners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Avoid alcohol during treatment</a:t>
            </a:r>
          </a:p>
          <a:p>
            <a:pPr>
              <a:lnSpc>
                <a:spcPct val="2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560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D43F-1506-4EEE-B193-96382D15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Prevention and Control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A1724-0EE8-4A14-A8F5-7FE128F58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Safe sexual practices</a:t>
            </a:r>
          </a:p>
          <a:p>
            <a:pPr>
              <a:lnSpc>
                <a:spcPct val="150000"/>
              </a:lnSpc>
            </a:pPr>
            <a:r>
              <a:rPr lang="en-GB" dirty="0"/>
              <a:t>Use of condoms</a:t>
            </a:r>
          </a:p>
          <a:p>
            <a:pPr>
              <a:lnSpc>
                <a:spcPct val="150000"/>
              </a:lnSpc>
            </a:pPr>
            <a:r>
              <a:rPr lang="en-GB" dirty="0"/>
              <a:t>Early diagnosis and treatment</a:t>
            </a:r>
          </a:p>
          <a:p>
            <a:pPr>
              <a:lnSpc>
                <a:spcPct val="150000"/>
              </a:lnSpc>
            </a:pPr>
            <a:r>
              <a:rPr lang="en-GB" dirty="0"/>
              <a:t>Treat sexual partners</a:t>
            </a:r>
          </a:p>
          <a:p>
            <a:pPr>
              <a:lnSpc>
                <a:spcPct val="150000"/>
              </a:lnSpc>
            </a:pPr>
            <a:r>
              <a:rPr lang="en-GB" dirty="0"/>
              <a:t>Public health education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1097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A5B6-0F95-46B8-A69A-13B627898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b="1" dirty="0"/>
              <a:t>TOXOPLASMA GONDII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11B1-BAF5-41BF-9529-8E9159EA28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TISSUE PROTOZOA</a:t>
            </a:r>
          </a:p>
        </p:txBody>
      </p:sp>
    </p:spTree>
    <p:extLst>
      <p:ext uri="{BB962C8B-B14F-4D97-AF65-F5344CB8AC3E}">
        <p14:creationId xmlns:p14="http://schemas.microsoft.com/office/powerpoint/2010/main" val="31784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E0FC-0E1A-49D4-81C0-4206CD1F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91FE8-07AB-41B9-B0B2-545EE6C50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Toxoplasma gondii</a:t>
            </a:r>
            <a:r>
              <a:rPr lang="en-GB" dirty="0"/>
              <a:t> is an </a:t>
            </a:r>
            <a:r>
              <a:rPr lang="en-GB" b="1" dirty="0"/>
              <a:t>obligate intracellular protozoan parasite</a:t>
            </a:r>
            <a:endParaRPr lang="en-GB" dirty="0"/>
          </a:p>
          <a:p>
            <a:r>
              <a:rPr lang="en-GB" dirty="0"/>
              <a:t>Widely distributed worldwide</a:t>
            </a:r>
          </a:p>
          <a:p>
            <a:r>
              <a:rPr lang="en-GB" dirty="0"/>
              <a:t>Infects </a:t>
            </a:r>
            <a:r>
              <a:rPr lang="en-GB" b="1" dirty="0"/>
              <a:t>humans and many warm-blooded animals</a:t>
            </a:r>
            <a:endParaRPr lang="en-GB" dirty="0"/>
          </a:p>
          <a:p>
            <a:r>
              <a:rPr lang="en-GB" dirty="0"/>
              <a:t>Usually asymptomatic but </a:t>
            </a:r>
            <a:r>
              <a:rPr lang="en-GB" b="1" dirty="0"/>
              <a:t>severe in immunocompromised individuals and </a:t>
            </a:r>
            <a:r>
              <a:rPr lang="en-GB" b="1" dirty="0" err="1"/>
              <a:t>fetuses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126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6D6E-FC66-4B0E-9DF4-CAED3D3A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Classification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1BD2-5CB8-48C3-8278-2591C69A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1701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Kingdom:</a:t>
            </a:r>
            <a:r>
              <a:rPr lang="en-GB" dirty="0"/>
              <a:t> Protista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Phylum:</a:t>
            </a:r>
            <a:r>
              <a:rPr lang="en-GB" dirty="0"/>
              <a:t> Apicomplexa</a:t>
            </a:r>
          </a:p>
          <a:p>
            <a:pPr>
              <a:lnSpc>
                <a:spcPct val="150000"/>
              </a:lnSpc>
            </a:pPr>
            <a:r>
              <a:rPr lang="en-GB" b="1" dirty="0"/>
              <a:t>Class:</a:t>
            </a:r>
            <a:r>
              <a:rPr lang="en-GB" dirty="0"/>
              <a:t> </a:t>
            </a:r>
            <a:r>
              <a:rPr lang="en-GB" dirty="0" err="1"/>
              <a:t>Conoidasida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Order:</a:t>
            </a:r>
            <a:r>
              <a:rPr lang="en-GB" dirty="0"/>
              <a:t> </a:t>
            </a:r>
            <a:r>
              <a:rPr lang="en-GB" dirty="0" err="1"/>
              <a:t>Eucoccidiorida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Genus:</a:t>
            </a:r>
            <a:r>
              <a:rPr lang="en-GB" dirty="0"/>
              <a:t> </a:t>
            </a:r>
            <a:r>
              <a:rPr lang="en-GB" i="1" dirty="0"/>
              <a:t>Toxoplasma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Species:</a:t>
            </a:r>
            <a:r>
              <a:rPr lang="en-GB" dirty="0"/>
              <a:t> </a:t>
            </a:r>
            <a:r>
              <a:rPr lang="en-GB" i="1" dirty="0"/>
              <a:t>T. gondii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1961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2F58-D3A9-4409-BE84-42CEC256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BAFC-A2EE-4E20-BD3E-ED27D662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Definitive host:</a:t>
            </a:r>
            <a:r>
              <a:rPr lang="en-GB" dirty="0"/>
              <a:t> Cat (family </a:t>
            </a:r>
            <a:r>
              <a:rPr lang="en-GB" i="1" dirty="0"/>
              <a:t>Felidae</a:t>
            </a:r>
            <a:r>
              <a:rPr lang="en-GB" dirty="0"/>
              <a:t>)</a:t>
            </a:r>
          </a:p>
          <a:p>
            <a:pPr>
              <a:lnSpc>
                <a:spcPct val="150000"/>
              </a:lnSpc>
            </a:pPr>
            <a:r>
              <a:rPr lang="en-GB" dirty="0"/>
              <a:t>Intermediate hosts: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Humans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Birds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Mammals (sheep, goats, pigs, rodents)</a:t>
            </a:r>
          </a:p>
          <a:p>
            <a:pPr>
              <a:lnSpc>
                <a:spcPct val="150000"/>
              </a:lnSpc>
            </a:pPr>
            <a:r>
              <a:rPr lang="en-GB" dirty="0"/>
              <a:t>Sexual reproduction occurs </a:t>
            </a:r>
            <a:r>
              <a:rPr lang="en-GB" b="1" dirty="0"/>
              <a:t>only in cats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89723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6A6E-3958-4F00-8238-3031AFEE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Infective Forms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3FF78-F090-4D51-8179-ACAEAF93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Tachyzoite</a:t>
            </a:r>
            <a:r>
              <a:rPr lang="en-GB" dirty="0"/>
              <a:t> – rapidly multiplying form (acute infection)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Bradyzoite</a:t>
            </a:r>
            <a:r>
              <a:rPr lang="en-GB" dirty="0"/>
              <a:t> – slow-growing form in tissue cysts (chronic infection)</a:t>
            </a:r>
          </a:p>
          <a:p>
            <a:pPr>
              <a:lnSpc>
                <a:spcPct val="150000"/>
              </a:lnSpc>
            </a:pPr>
            <a:r>
              <a:rPr lang="en-GB" b="1" dirty="0"/>
              <a:t>Oocyst</a:t>
            </a:r>
            <a:r>
              <a:rPr lang="en-GB" dirty="0"/>
              <a:t> – passed in cat </a:t>
            </a:r>
            <a:r>
              <a:rPr lang="en-GB" dirty="0" err="1"/>
              <a:t>feces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282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414-8600-4867-8DD3-78BE2432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Morphology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326EE-348D-4622-867E-DD7629DD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Crescent-shaped organism</a:t>
            </a:r>
          </a:p>
          <a:p>
            <a:r>
              <a:rPr lang="en-GB" dirty="0"/>
              <a:t>Size: ~5–7 µm</a:t>
            </a:r>
          </a:p>
          <a:p>
            <a:r>
              <a:rPr lang="en-GB" dirty="0"/>
              <a:t>Has:</a:t>
            </a:r>
          </a:p>
          <a:p>
            <a:pPr lvl="1"/>
            <a:r>
              <a:rPr lang="en-GB" dirty="0"/>
              <a:t>Apical complex (for cell invasion)</a:t>
            </a:r>
          </a:p>
          <a:p>
            <a:pPr lvl="1"/>
            <a:r>
              <a:rPr lang="en-GB" dirty="0"/>
              <a:t>Single nucleus</a:t>
            </a:r>
          </a:p>
          <a:p>
            <a:r>
              <a:rPr lang="en-GB" dirty="0"/>
              <a:t>Similar appearance to </a:t>
            </a:r>
            <a:r>
              <a:rPr lang="en-GB" i="1" dirty="0"/>
              <a:t>Plasmodium</a:t>
            </a:r>
            <a:r>
              <a:rPr lang="en-GB" dirty="0"/>
              <a:t> stages but </a:t>
            </a:r>
            <a:r>
              <a:rPr lang="en-GB" b="1" dirty="0"/>
              <a:t>found in tissues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07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235C-A5F0-4072-8FA2-65CB77A6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Modes of Transmission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5249-2B43-4EB0-BBCD-4677651C4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Ingestion of: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Oocysts</a:t>
            </a:r>
            <a:r>
              <a:rPr lang="en-GB" dirty="0"/>
              <a:t> from cat </a:t>
            </a:r>
            <a:r>
              <a:rPr lang="en-GB" dirty="0" err="1"/>
              <a:t>feces</a:t>
            </a:r>
            <a:r>
              <a:rPr lang="en-GB" dirty="0"/>
              <a:t> (soil, vegetables, water)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Tissue cysts</a:t>
            </a:r>
            <a:r>
              <a:rPr lang="en-GB" dirty="0"/>
              <a:t> in undercooked meat</a:t>
            </a:r>
          </a:p>
          <a:p>
            <a:pPr>
              <a:lnSpc>
                <a:spcPct val="150000"/>
              </a:lnSpc>
            </a:pPr>
            <a:r>
              <a:rPr lang="en-GB" dirty="0"/>
              <a:t>Transplacental (mother → </a:t>
            </a:r>
            <a:r>
              <a:rPr lang="en-GB" dirty="0" err="1"/>
              <a:t>fetus</a:t>
            </a:r>
            <a:r>
              <a:rPr lang="en-GB" dirty="0"/>
              <a:t>)</a:t>
            </a:r>
          </a:p>
          <a:p>
            <a:pPr>
              <a:lnSpc>
                <a:spcPct val="150000"/>
              </a:lnSpc>
            </a:pPr>
            <a:r>
              <a:rPr lang="en-GB" dirty="0"/>
              <a:t>Blood transfusion / organ transplant (rare)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505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0B82-64E9-4317-9A2F-4AFFBB01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Life Cycle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97A8-05F7-4332-9DC3-91DBF248A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dirty="0"/>
              <a:t>Two phases:</a:t>
            </a:r>
          </a:p>
          <a:p>
            <a:pPr lvl="1">
              <a:lnSpc>
                <a:spcPct val="200000"/>
              </a:lnSpc>
            </a:pPr>
            <a:r>
              <a:rPr lang="en-GB" b="1" dirty="0"/>
              <a:t>Sexual cycle in cats</a:t>
            </a:r>
            <a:endParaRPr lang="en-GB" dirty="0"/>
          </a:p>
          <a:p>
            <a:pPr lvl="1">
              <a:lnSpc>
                <a:spcPct val="200000"/>
              </a:lnSpc>
            </a:pPr>
            <a:r>
              <a:rPr lang="en-GB" b="1" dirty="0"/>
              <a:t>Asexual cycle in intermediate hosts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Humans acquire infection accidentally</a:t>
            </a:r>
          </a:p>
          <a:p>
            <a:pPr>
              <a:lnSpc>
                <a:spcPct val="2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7262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75DC-F9D4-4F84-B757-5F73372A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Life Cycle – Cat (Definitive Host)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A984-4307-414F-B3CF-5901162E1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Cat ingests tissue cysts</a:t>
            </a:r>
          </a:p>
          <a:p>
            <a:pPr>
              <a:lnSpc>
                <a:spcPct val="150000"/>
              </a:lnSpc>
            </a:pPr>
            <a:r>
              <a:rPr lang="en-GB" dirty="0"/>
              <a:t>Sexual reproduction occurs in intestinal epithelium</a:t>
            </a:r>
          </a:p>
          <a:p>
            <a:pPr>
              <a:lnSpc>
                <a:spcPct val="150000"/>
              </a:lnSpc>
            </a:pPr>
            <a:r>
              <a:rPr lang="en-GB" dirty="0"/>
              <a:t>Produces </a:t>
            </a:r>
            <a:r>
              <a:rPr lang="en-GB" b="1" dirty="0"/>
              <a:t>oocysts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Oocysts shed in </a:t>
            </a:r>
            <a:r>
              <a:rPr lang="en-GB" dirty="0" err="1"/>
              <a:t>feces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Become infective after sporulation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3544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3F61-2E86-46C9-8158-0A803FCF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Life Cycle – Human (Intermediate Host)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E4A5-4FA8-4EA0-9F68-046B54E11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Ingest oocysts or tissue cysts</a:t>
            </a:r>
          </a:p>
          <a:p>
            <a:r>
              <a:rPr lang="en-GB" dirty="0"/>
              <a:t>Parasite becomes </a:t>
            </a:r>
            <a:r>
              <a:rPr lang="en-GB" b="1" dirty="0"/>
              <a:t>tachyzoites</a:t>
            </a:r>
            <a:endParaRPr lang="en-GB" dirty="0"/>
          </a:p>
          <a:p>
            <a:r>
              <a:rPr lang="en-GB" dirty="0"/>
              <a:t>Spread via bloodstream</a:t>
            </a:r>
          </a:p>
          <a:p>
            <a:r>
              <a:rPr lang="en-GB" dirty="0"/>
              <a:t>Convert to </a:t>
            </a:r>
            <a:r>
              <a:rPr lang="en-GB" b="1" dirty="0"/>
              <a:t>bradyzoites</a:t>
            </a:r>
            <a:r>
              <a:rPr lang="en-GB" dirty="0"/>
              <a:t> in tissues:</a:t>
            </a:r>
          </a:p>
          <a:p>
            <a:pPr lvl="1"/>
            <a:r>
              <a:rPr lang="en-GB" dirty="0"/>
              <a:t>Brain</a:t>
            </a:r>
          </a:p>
          <a:p>
            <a:pPr lvl="1"/>
            <a:r>
              <a:rPr lang="en-GB" dirty="0"/>
              <a:t>Eye</a:t>
            </a:r>
          </a:p>
          <a:p>
            <a:pPr lvl="1"/>
            <a:r>
              <a:rPr lang="en-GB" dirty="0"/>
              <a:t>Muscle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1987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834B-4B3C-4313-A7B1-E0053068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Life Cycle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DC1CB-0396-4AC3-8EC7-B5447D803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07" y="1791494"/>
            <a:ext cx="7482469" cy="4520096"/>
          </a:xfrm>
        </p:spPr>
      </p:pic>
    </p:spTree>
    <p:extLst>
      <p:ext uri="{BB962C8B-B14F-4D97-AF65-F5344CB8AC3E}">
        <p14:creationId xmlns:p14="http://schemas.microsoft.com/office/powerpoint/2010/main" val="29019896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F4F8-3D45-40EA-87BF-FCD831E8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Pathogenesis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39202-FE7E-483E-936E-FB745D3E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dirty="0"/>
              <a:t>Tachyzoites destroy host cells</a:t>
            </a:r>
          </a:p>
          <a:p>
            <a:pPr>
              <a:lnSpc>
                <a:spcPct val="200000"/>
              </a:lnSpc>
            </a:pPr>
            <a:r>
              <a:rPr lang="en-GB" dirty="0"/>
              <a:t>Tissue inflammation and necrosis</a:t>
            </a:r>
          </a:p>
          <a:p>
            <a:pPr>
              <a:lnSpc>
                <a:spcPct val="200000"/>
              </a:lnSpc>
            </a:pPr>
            <a:r>
              <a:rPr lang="en-GB" dirty="0"/>
              <a:t>Bradyzoites persist lifelong in cysts</a:t>
            </a:r>
          </a:p>
          <a:p>
            <a:pPr>
              <a:lnSpc>
                <a:spcPct val="200000"/>
              </a:lnSpc>
            </a:pPr>
            <a:r>
              <a:rPr lang="en-GB" dirty="0"/>
              <a:t>Reactivation occurs when immunity is low</a:t>
            </a:r>
          </a:p>
          <a:p>
            <a:pPr>
              <a:lnSpc>
                <a:spcPct val="2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1867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D10C-0772-4484-A6C5-E016C5F6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Clinical Features in Immunocompetent Adults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10041-A5A3-4D6D-A337-75F8EFB67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Usually asymptomatic</a:t>
            </a:r>
          </a:p>
          <a:p>
            <a:pPr>
              <a:lnSpc>
                <a:spcPct val="150000"/>
              </a:lnSpc>
            </a:pPr>
            <a:r>
              <a:rPr lang="en-GB" dirty="0"/>
              <a:t>Mild flu-like illness</a:t>
            </a:r>
          </a:p>
          <a:p>
            <a:pPr>
              <a:lnSpc>
                <a:spcPct val="150000"/>
              </a:lnSpc>
            </a:pPr>
            <a:r>
              <a:rPr lang="en-GB" dirty="0"/>
              <a:t>Lymphadenopathy</a:t>
            </a:r>
          </a:p>
          <a:p>
            <a:pPr>
              <a:lnSpc>
                <a:spcPct val="150000"/>
              </a:lnSpc>
            </a:pPr>
            <a:r>
              <a:rPr lang="en-GB" dirty="0"/>
              <a:t>Low-grade fever</a:t>
            </a:r>
          </a:p>
          <a:p>
            <a:pPr>
              <a:lnSpc>
                <a:spcPct val="150000"/>
              </a:lnSpc>
            </a:pPr>
            <a:r>
              <a:rPr lang="en-GB" dirty="0"/>
              <a:t>Myalgia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6936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1DE4-3600-4863-AD7E-68A82027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Congenital Toxoplasmosis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19DB-950E-4634-8D25-D015C2633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GB" dirty="0"/>
              <a:t>Occurs when mother is infected during pregnancy</a:t>
            </a:r>
          </a:p>
          <a:p>
            <a:pPr marL="0" indent="0">
              <a:buNone/>
            </a:pPr>
            <a:r>
              <a:rPr lang="en-GB" b="1" dirty="0"/>
              <a:t>Classic Triad:</a:t>
            </a:r>
          </a:p>
          <a:p>
            <a:pPr lvl="1"/>
            <a:r>
              <a:rPr lang="en-GB" b="1" dirty="0"/>
              <a:t>Hydrocephalus</a:t>
            </a:r>
            <a:endParaRPr lang="en-GB" dirty="0"/>
          </a:p>
          <a:p>
            <a:pPr lvl="1"/>
            <a:r>
              <a:rPr lang="en-GB" b="1" dirty="0"/>
              <a:t>Intracranial calcifications</a:t>
            </a:r>
            <a:endParaRPr lang="en-GB" dirty="0"/>
          </a:p>
          <a:p>
            <a:pPr lvl="1"/>
            <a:r>
              <a:rPr lang="en-GB" b="1" dirty="0"/>
              <a:t>Chorioretinitis</a:t>
            </a:r>
          </a:p>
          <a:p>
            <a:pPr marL="0" indent="0">
              <a:buNone/>
            </a:pPr>
            <a:r>
              <a:rPr lang="en-GB" dirty="0"/>
              <a:t>Severity depends on gestational age at infection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8340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0B31-1712-426A-A3D7-EEB48552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/>
              <a:t>Toxoplasmosis in Immunocompromised Patients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34ADC-330F-41A4-955B-06EA894A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Common in HIV/AIDS</a:t>
            </a:r>
          </a:p>
          <a:p>
            <a:r>
              <a:rPr lang="en-GB" dirty="0"/>
              <a:t>Causes:</a:t>
            </a:r>
          </a:p>
          <a:p>
            <a:pPr lvl="1"/>
            <a:r>
              <a:rPr lang="en-GB" dirty="0"/>
              <a:t>Encephalitis</a:t>
            </a:r>
          </a:p>
          <a:p>
            <a:pPr lvl="1"/>
            <a:r>
              <a:rPr lang="en-GB" dirty="0"/>
              <a:t>Seizures</a:t>
            </a:r>
          </a:p>
          <a:p>
            <a:pPr lvl="1"/>
            <a:r>
              <a:rPr lang="en-GB" dirty="0"/>
              <a:t>Confusion</a:t>
            </a:r>
          </a:p>
          <a:p>
            <a:pPr lvl="1"/>
            <a:r>
              <a:rPr lang="en-GB" dirty="0"/>
              <a:t>Coma</a:t>
            </a:r>
          </a:p>
          <a:p>
            <a:r>
              <a:rPr lang="en-GB" dirty="0"/>
              <a:t>Reactivation of latent infection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90684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F191-C54A-47B7-9D03-7ACD035A4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Diagnosis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488AD-0F67-46E5-B046-F704CE36D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Serology</a:t>
            </a:r>
            <a:r>
              <a:rPr lang="en-GB" dirty="0"/>
              <a:t> (IgG, IgM antibodies)</a:t>
            </a:r>
          </a:p>
          <a:p>
            <a:pPr>
              <a:lnSpc>
                <a:spcPct val="150000"/>
              </a:lnSpc>
            </a:pPr>
            <a:r>
              <a:rPr lang="en-GB" dirty="0"/>
              <a:t>PCR (CSF, amniotic fluid)</a:t>
            </a:r>
          </a:p>
          <a:p>
            <a:pPr>
              <a:lnSpc>
                <a:spcPct val="150000"/>
              </a:lnSpc>
            </a:pPr>
            <a:r>
              <a:rPr lang="en-GB" dirty="0"/>
              <a:t>Imaging: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CT/MRI brain (ring-enhancing lesions)</a:t>
            </a:r>
          </a:p>
          <a:p>
            <a:pPr>
              <a:lnSpc>
                <a:spcPct val="150000"/>
              </a:lnSpc>
            </a:pPr>
            <a:r>
              <a:rPr lang="en-GB" dirty="0"/>
              <a:t>Tissue biopsy (rare)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6797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A244-BF90-4922-B84B-33AB23D0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Treatment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0261-4AFA-40A3-B5A1-BFCFC99D4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Pyrimethamine + Sulfadiazine + </a:t>
            </a:r>
            <a:r>
              <a:rPr lang="en-GB" b="1" dirty="0" err="1"/>
              <a:t>Folinic</a:t>
            </a:r>
            <a:r>
              <a:rPr lang="en-GB" b="1" dirty="0"/>
              <a:t> acid</a:t>
            </a:r>
            <a:endParaRPr lang="en-GB" dirty="0"/>
          </a:p>
          <a:p>
            <a:r>
              <a:rPr lang="en-GB" dirty="0" err="1"/>
              <a:t>Spiramycin</a:t>
            </a:r>
            <a:r>
              <a:rPr lang="en-GB" dirty="0"/>
              <a:t> (pregnancy)</a:t>
            </a:r>
          </a:p>
          <a:p>
            <a:endParaRPr lang="en-GB" dirty="0"/>
          </a:p>
          <a:p>
            <a:r>
              <a:rPr lang="en-GB" dirty="0"/>
              <a:t>Treatment depends on:</a:t>
            </a:r>
          </a:p>
          <a:p>
            <a:pPr lvl="1"/>
            <a:r>
              <a:rPr lang="en-GB" dirty="0"/>
              <a:t>Severity</a:t>
            </a:r>
          </a:p>
          <a:p>
            <a:pPr lvl="1"/>
            <a:r>
              <a:rPr lang="en-GB" dirty="0"/>
              <a:t>Immune status</a:t>
            </a:r>
          </a:p>
          <a:p>
            <a:pPr lvl="1"/>
            <a:r>
              <a:rPr lang="en-GB" dirty="0"/>
              <a:t>Pregnancy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49303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7EB1-6570-4AD2-B469-E88BF22D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Prevention and Control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A39F-09E8-41F8-AF00-8EFB5BC6E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8970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Properly cook meat</a:t>
            </a:r>
          </a:p>
          <a:p>
            <a:pPr>
              <a:lnSpc>
                <a:spcPct val="150000"/>
              </a:lnSpc>
            </a:pPr>
            <a:r>
              <a:rPr lang="en-GB" dirty="0"/>
              <a:t>Wash fruits and vegetables</a:t>
            </a:r>
          </a:p>
          <a:p>
            <a:pPr>
              <a:lnSpc>
                <a:spcPct val="150000"/>
              </a:lnSpc>
            </a:pPr>
            <a:r>
              <a:rPr lang="en-GB" dirty="0"/>
              <a:t>Avoid contact with cat </a:t>
            </a:r>
            <a:r>
              <a:rPr lang="en-GB" dirty="0" err="1"/>
              <a:t>feces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Pregnant women: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Avoid litter boxes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Wear gloves while gardening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42168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B558A-1D18-4BC5-B335-B51D536C5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1281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1884</Words>
  <Application>Microsoft Office PowerPoint</Application>
  <PresentationFormat>On-screen Show (4:3)</PresentationFormat>
  <Paragraphs>531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宋体</vt:lpstr>
      <vt:lpstr>Arial</vt:lpstr>
      <vt:lpstr>Default Design</vt:lpstr>
      <vt:lpstr>PLASMODIUM &amp; TRYPANOSOMA</vt:lpstr>
      <vt:lpstr>Introduction to Plasmodium</vt:lpstr>
      <vt:lpstr>Classification of Plasmodium</vt:lpstr>
      <vt:lpstr>Species of Plasmodium Infecting Humans</vt:lpstr>
      <vt:lpstr>Ring Stage (Early Trophozoite – in RBC)</vt:lpstr>
      <vt:lpstr>Trophozoite Stage</vt:lpstr>
      <vt:lpstr>Schizont Stage</vt:lpstr>
      <vt:lpstr>Gametocyte Stage</vt:lpstr>
      <vt:lpstr>Red Blood Cell (RBC) Changes</vt:lpstr>
      <vt:lpstr>Geographical Distribution</vt:lpstr>
      <vt:lpstr>Host and Vector</vt:lpstr>
      <vt:lpstr>Morphology of Plasmodium</vt:lpstr>
      <vt:lpstr>Life Cycle of Plasmodium</vt:lpstr>
      <vt:lpstr>Life Cycle – Human Liver Stage</vt:lpstr>
      <vt:lpstr>Red Blood Cell Stage</vt:lpstr>
      <vt:lpstr>Life Cycle – Sexual Stage in Humans </vt:lpstr>
      <vt:lpstr>Life Cycle – Mosquito Stage</vt:lpstr>
      <vt:lpstr>Pathogenesis of Malaria</vt:lpstr>
      <vt:lpstr>Clinical Signs and Symptoms</vt:lpstr>
      <vt:lpstr>Diagnosis of Malaria</vt:lpstr>
      <vt:lpstr>Treatment of Malaria</vt:lpstr>
      <vt:lpstr>Prevention and Control</vt:lpstr>
      <vt:lpstr>TRYPANOSOMA</vt:lpstr>
      <vt:lpstr>Introduction to Trypanosoma</vt:lpstr>
      <vt:lpstr>Classification of Trypanosoma</vt:lpstr>
      <vt:lpstr>Medically Important Species</vt:lpstr>
      <vt:lpstr>Host and Vector</vt:lpstr>
      <vt:lpstr>Morphology of Trypanosoma</vt:lpstr>
      <vt:lpstr>Developmental Forms</vt:lpstr>
      <vt:lpstr>FORMS OF TRYPANOSOMA</vt:lpstr>
      <vt:lpstr>Life Cycle of Trypanosoma brucei </vt:lpstr>
      <vt:lpstr>Life Cycle – Human Stage (T. brucei)</vt:lpstr>
      <vt:lpstr>Life Cycle – Vector Stage (T. brucei)</vt:lpstr>
      <vt:lpstr>Life Cycle of Trypanosoma cruzi</vt:lpstr>
      <vt:lpstr>Pathogenesis</vt:lpstr>
      <vt:lpstr>Clinical Features – African Trypanosomiasis</vt:lpstr>
      <vt:lpstr>Clinical Features – Chagas Disease</vt:lpstr>
      <vt:lpstr>Diagnosis</vt:lpstr>
      <vt:lpstr>TREATMENT</vt:lpstr>
      <vt:lpstr>Prevention and Control</vt:lpstr>
      <vt:lpstr>Antigenic Variation </vt:lpstr>
      <vt:lpstr>TRICHOMONAS VAGINALIS</vt:lpstr>
      <vt:lpstr>Introduction</vt:lpstr>
      <vt:lpstr>Classification</vt:lpstr>
      <vt:lpstr>Habitat</vt:lpstr>
      <vt:lpstr>Morphology</vt:lpstr>
      <vt:lpstr>Developmental Form</vt:lpstr>
      <vt:lpstr>Mode of Transmission</vt:lpstr>
      <vt:lpstr>Life Cycle</vt:lpstr>
      <vt:lpstr>Pathogenesis</vt:lpstr>
      <vt:lpstr>Clinical Features in Females</vt:lpstr>
      <vt:lpstr>Clinical Features in Males</vt:lpstr>
      <vt:lpstr>Complications</vt:lpstr>
      <vt:lpstr>Diagnosis</vt:lpstr>
      <vt:lpstr>Treatment</vt:lpstr>
      <vt:lpstr>Prevention and Control</vt:lpstr>
      <vt:lpstr>TOXOPLASMA GONDII</vt:lpstr>
      <vt:lpstr>Introduction</vt:lpstr>
      <vt:lpstr>Classification</vt:lpstr>
      <vt:lpstr>Hosts</vt:lpstr>
      <vt:lpstr>Infective Forms</vt:lpstr>
      <vt:lpstr>Morphology</vt:lpstr>
      <vt:lpstr>Modes of Transmission</vt:lpstr>
      <vt:lpstr>Life Cycle</vt:lpstr>
      <vt:lpstr>Life Cycle – Cat (Definitive Host)</vt:lpstr>
      <vt:lpstr>Life Cycle – Human (Intermediate Host)</vt:lpstr>
      <vt:lpstr>Life Cycle</vt:lpstr>
      <vt:lpstr>Pathogenesis</vt:lpstr>
      <vt:lpstr>Clinical Features in Immunocompetent Adults</vt:lpstr>
      <vt:lpstr>Congenital Toxoplasmosis</vt:lpstr>
      <vt:lpstr>Toxoplasmosis in Immunocompromised Patients</vt:lpstr>
      <vt:lpstr>Diagnosis</vt:lpstr>
      <vt:lpstr>Treatment</vt:lpstr>
      <vt:lpstr>Prevention and Control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iPhone</dc:creator>
  <cp:lastModifiedBy>MSITA</cp:lastModifiedBy>
  <cp:revision>46</cp:revision>
  <dcterms:created xsi:type="dcterms:W3CDTF">1900-01-01T00:00:00Z</dcterms:created>
  <dcterms:modified xsi:type="dcterms:W3CDTF">2026-01-06T14:03:01Z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3081-11.37.20</vt:lpwstr>
  </property>
  <property fmtid="{D5CDD505-2E9C-101B-9397-08002B2CF9AE}" pid="3" name="ICV">
    <vt:lpwstr>18B32375ADA87780BC3C5B692445C315_31</vt:lpwstr>
  </property>
</Properties>
</file>